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(00:00 - 00:30):</a:t>
            </a:r>
          </a:p>
          <a:p>
            <a:r>
              <a:t>Kính thưa quý Thầy Cô trong Hội đồng phản biện và Thầy Trương Thanh Bình kính mến!</a:t>
            </a:r>
          </a:p>
          <a:p>
            <a:r>
              <a:t>Em tên là Nguyễn Duy Bảo, đại diện cho nhóm sinh viên Khóa K25 chuyên ngành Công nghệ Phần mềm.</a:t>
            </a:r>
          </a:p>
          <a:p>
            <a:r>
              <a:t>Hôm nay, nhóm chúng em xin được báo cáo đề tài tốt nghiệp: DriveShare - Nền tảng chia sẻ và cho thuê xe tự lái trực tuyến theo mô hình P2P.</a:t>
            </a:r>
          </a:p>
          <a:p>
            <a:r>
              <a:t>Bài thuyết trình gồm 3 chương trọng tâm với thời lượng 15 phút. Em xin phép được bắt đầu!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(00:30 - 01:15):</a:t>
            </a:r>
          </a:p>
          <a:p>
            <a:r>
              <a:t>Thưa Thầy Cô, nhu cầu thuê xe tự lái tăng rất nhanh, nhưng cách thuê truyền thống lộ rõ 3 bất cập lớn:</a:t>
            </a:r>
          </a:p>
          <a:p>
            <a:r>
              <a:t>1. Rủi ro giam giữ tài sản: Khách phải để lại CCCD gốc hoặc xe máy giá trị cao.</a:t>
            </a:r>
          </a:p>
          <a:p>
            <a:r>
              <a:t>2. Tranh chấp trầy xước: Thiếu biên bản nghiệm thu nên hay xảy ra cãi vã khi trả xe.</a:t>
            </a:r>
          </a:p>
          <a:p>
            <a:r>
              <a:t>3. Quản lý thủ công: Nhận cọc qua Zalo dễ dẫn đến đặt trùng lịch 2 người cùng ngày.</a:t>
            </a:r>
          </a:p>
          <a:p>
            <a:r>
              <a:t>Mô hình P2P của DriveShare ra đời nhằm giải quyết triệt để các vấn đề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(01:15 - 02:15):</a:t>
            </a:r>
          </a:p>
          <a:p>
            <a:r>
              <a:t>Để tạo ưu thế cạnh tranh, nhóm đã lập Bảng đối chuẩn giữa Mioto, Zoomcar với DriveShare qua 5 tiêu chí:</a:t>
            </a:r>
          </a:p>
          <a:p>
            <a:r>
              <a:t>- Về cọc: DriveShare áp dụng Ký quỹ 30% VietQR giúp giảm áp lực tiền mặt.</a:t>
            </a:r>
          </a:p>
          <a:p>
            <a:r>
              <a:t>- Về hỗ trợ: Có Trợ lý AI tính chi phí và tìm xe tự động.</a:t>
            </a:r>
          </a:p>
          <a:p>
            <a:r>
              <a:t>- Về bàn giao: Bắt buộc Check-in/Check-out 2 chiều có ảnh đối soát ODO và xăng.</a:t>
            </a:r>
          </a:p>
          <a:p>
            <a:r>
              <a:t>- Đặc biệt: Tiên phong tự động hóa xử phạt quá hạn và trích xuất hồ sơ vi phạm theo Điều 175 BLHS.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(02:15 - 03:00):</a:t>
            </a:r>
          </a:p>
          <a:p>
            <a:r>
              <a:t>Từ các phân tích trên, DriveShare xác định 4 mục tiêu then chốt:</a:t>
            </a:r>
          </a:p>
          <a:p>
            <a:r>
              <a:t>1. Xây dựng nền tảng P2P an toàn trên cả PC và thiết bị di động.</a:t>
            </a:r>
          </a:p>
          <a:p>
            <a:r>
              <a:t>2. Bảo vệ dòng tiền cho cả hai bên nhờ cơ chế giữ cọc Escrow 30%.</a:t>
            </a:r>
          </a:p>
          <a:p>
            <a:r>
              <a:t>3. Giải quyết triệt để lỗi trùng xe bằng khóa CSDL chuyên sâu.</a:t>
            </a:r>
          </a:p>
          <a:p>
            <a:r>
              <a:t>4. Tích hợp AI nâng cao trải nghiệm đặt xe thông minh.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(03:00 - 03:45):</a:t>
            </a:r>
          </a:p>
          <a:p>
            <a:r>
              <a:t>Về kiến trúc, hệ thống tách biệt Client và Server qua RESTful API chuẩn ApiResponse&lt;T&gt;.</a:t>
            </a:r>
          </a:p>
          <a:p>
            <a:r>
              <a:t>Backend dùng Spring Boot 3.3.4 phân chia 9 module nghiệp vụ rõ ràng.</a:t>
            </a:r>
          </a:p>
          <a:p>
            <a:r>
              <a:t>CSDL PostgreSQL 16 đóng gói trong Docker container đảm bảo tính nhất quán.</a:t>
            </a:r>
          </a:p>
          <a:p>
            <a:r>
              <a:t>Hình ảnh và video được lưu trữ tối ưu trên Cloudinary CDN kèm bộ nhớ lưu vết chat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(03:45 - 04:30):</a:t>
            </a:r>
          </a:p>
          <a:p>
            <a:r>
              <a:t>Đây là Sơ đồ Use Case quy trình đặt xe và vận hành cốt lõi:</a:t>
            </a:r>
          </a:p>
          <a:p>
            <a:r>
              <a:t>- Khách thuê tạo yêu cầu, khi được duyệt sẽ thực hiện thanh toán cọc 30% qua VietQR để kích hoạt Giữ cọc Escrow &amp; Hard Lock.</a:t>
            </a:r>
          </a:p>
          <a:p>
            <a:r>
              <a:t>- Chủ xe khi duyệt đơn sẽ kích hoạt Khóa tạm lịch xe Soft Lock trong 45 phút.</a:t>
            </a:r>
          </a:p>
          <a:p>
            <a:r>
              <a:t>- Hai bên cùng thực hiện Check-in giao xe có 6 góc ảnh và Check-out trả xe có tính phụ phí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(04:30 - 05:20):</a:t>
            </a:r>
          </a:p>
          <a:p>
            <a:r>
              <a:t>Về cơ sở dữ liệu, nhóm xây dựng trên PostgreSQL 16 gồm 15 bảng quan hệ chuẩn 3NF:</a:t>
            </a:r>
          </a:p>
          <a:p>
            <a:r>
              <a:t>- Bảng users: Quản lý người dùng, phân quyền RBAC và token_version.</a:t>
            </a:r>
          </a:p>
          <a:p>
            <a:r>
              <a:t>- Bảng cars: Quản lý thông tin xe, biển số UNIQUE và đơn giá thuê.</a:t>
            </a:r>
          </a:p>
          <a:p>
            <a:r>
              <a:t>- Bảng rentals: Bảng hạt nhân lưu trữ toàn bộ tiến trình đơn thuê và thời hạn cọc 45 phút.</a:t>
            </a:r>
          </a:p>
          <a:p>
            <a:r>
              <a:t>- Bảng payments: Lưu trữ mã giao dịch DSPAY, mã VietQR và trạng thái ký quỹ cọc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(05:20 - 06:10):</a:t>
            </a:r>
          </a:p>
          <a:p>
            <a:r>
              <a:t>Toàn bộ quy trình đặt xe được điều khiển bởi State Machine chuyên sâu:</a:t>
            </a:r>
          </a:p>
          <a:p>
            <a:r>
              <a:t>- Đơn tạo mới PENDING_APPROVAL: Chủ xe có 60 phút để duyệt, quá giờ tự hủy EXPIRED.</a:t>
            </a:r>
          </a:p>
          <a:p>
            <a:r>
              <a:t>- Duyệt đơn kích hoạt WAITING_PAYMENT (Soft Lock 45 phút), các đơn trùng lịch tự sang ON_HOLD.</a:t>
            </a:r>
          </a:p>
          <a:p>
            <a:r>
              <a:t>- Cọc 30% VietQR thành công chuyển sang CONFIRMED (Hard Lock) và tự động từ chối các đơn ON_HOLD.</a:t>
            </a:r>
          </a:p>
          <a:p>
            <a:r>
              <a:t>- Nếu khách hết 45 phút không cọc, đơn chuyển EXPIRED và hệ thống tự động phục hồi đơn ON_HOLD về Chờ duyệt!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(06:10 - 07:10):</a:t>
            </a:r>
          </a:p>
          <a:p>
            <a:r>
              <a:t>Đây là Điểm sáng kỹ thuật then chốt: Xử lý Race Condition bằng Khóa bi quan.</a:t>
            </a:r>
          </a:p>
          <a:p>
            <a:r>
              <a:t>Lệnh SELECT FOR UPDATE khóa trực tiếp hàng dữ liệu xe trong PostgreSQL trong suốt transaction duyệt đơn, đảm bảo không thể có 2 đơn cùng được chốt một lúc.</a:t>
            </a:r>
          </a:p>
          <a:p>
            <a:r>
              <a:t>Khi Admin xử lý khiếu nại, bản ghi tranh chấp cũng được khóa để chống hoàn tiền 2 lần.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(07:10 - 08:00):</a:t>
            </a:r>
          </a:p>
          <a:p>
            <a:r>
              <a:t>Tiếp nối là Cơ chế Khóa 2 tầng linh hoạt:</a:t>
            </a:r>
          </a:p>
          <a:p>
            <a:r>
              <a:t>Soft Lock 45 phút cho khách thời gian chuyển khoản cọc 30% mà không sợ mất chỗ.</a:t>
            </a:r>
          </a:p>
          <a:p>
            <a:r>
              <a:t>Khi có cọc, Hard Lock kích hoạt chốt xe vĩnh viễn.</a:t>
            </a:r>
          </a:p>
          <a:p>
            <a:r>
              <a:t>Nếu quá 45 phút khách không cọc, Cronjob tự động giải phóng xe và phục hồi các đơn ON_HOLD về Chờ duyệt để đón khách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(08:00 - 08:30):</a:t>
            </a:r>
          </a:p>
          <a:p>
            <a:r>
              <a:t>Về bảo mật, cơ chế token_version cho phép thu hồi JWT ngay khi đổi mật khẩu, tự khóa tài khoản sau 5 lần đăng nhập sai.</a:t>
            </a:r>
          </a:p>
          <a:p>
            <a:r>
              <a:t>Phân hệ AI hoạt động theo cơ chế chịu lỗi Fault-Tolerant: Bình thường gọi Gemini 2.5 Flash; khi mất mạng bộ máy Heuristic Regex tự kích hoạt để tư vấn xe và tính cọc 30% mượt mà.</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(08:30 - 09:30):</a:t>
            </a:r>
          </a:p>
          <a:p>
            <a:r>
              <a:t>Bước sang Chương 3 thực nghiệm, đây là 3 màn hình cốt lõi của Khách thuê trên Mobile:</a:t>
            </a:r>
          </a:p>
          <a:p>
            <a:r>
              <a:t>1. Màn hình tìm xe với bộ lọc đa tiêu chí trực quan.</a:t>
            </a:r>
          </a:p>
          <a:p>
            <a:r>
              <a:t>2. Màn hình thanh toán ký quỹ 30% VietQR tự động sinh mã kèm đồng hồ đếm ngược Soft Lock 45 phút.</a:t>
            </a:r>
          </a:p>
          <a:p>
            <a:r>
              <a:t>3. Màn hình gửi khiếu nại sự cố kèm video bằng chứng để nhận lại 100% tiền cọc nếu chủ xe không giao xe.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(09:30 - 10:30):</a:t>
            </a:r>
          </a:p>
          <a:p>
            <a:r>
              <a:t>Đối với phân hệ Chủ xe, nhóm triển khai 3 chức năng thực nghiệm then chốt:</a:t>
            </a:r>
          </a:p>
          <a:p>
            <a:r>
              <a:t>1. Dashboard quản lý đội xe với nút bật/tắt nhận khách tức thì.</a:t>
            </a:r>
          </a:p>
          <a:p>
            <a:r>
              <a:t>2. Biên bản bàn giao điện tử 2 chiều: Nhập số km ODO, vạch xăng và chụp 6 góc ảnh làm bằng chứng đối soát.</a:t>
            </a:r>
          </a:p>
          <a:p>
            <a:r>
              <a:t>3. Ví doanh thu minh bạch: Tự động quyết toán 90% tiền thuê cho chủ xe sau khi cuốc xe hoàn tất.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(10:30 - 11:30):</a:t>
            </a:r>
          </a:p>
          <a:p>
            <a:r>
              <a:t>Cổng Quản trị Admin đảm nhiệm 3 vai trò sống còn:</a:t>
            </a:r>
          </a:p>
          <a:p>
            <a:r>
              <a:t>1. Dashboard giám sát toàn bộ hoạt động và doanh thu ký quỹ sàn.</a:t>
            </a:r>
          </a:p>
          <a:p>
            <a:r>
              <a:t>2. Thẩm định trực quan hồ sơ eKYC CCCD và GPLX của khách thuê trước khi cho phép đặt xe.</a:t>
            </a:r>
          </a:p>
          <a:p>
            <a:r>
              <a:t>3. Trung tâm phân xử Dispute giải ngân hoàn cọc 100%, phạt chủ xe vi phạm 500k và tự động khóa nick, xuất hồ sơ theo Điều 175 BLHS nếu quá hạn 24h.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(11:30 - 12:15):</a:t>
            </a:r>
          </a:p>
          <a:p>
            <a:r>
              <a:t>Điểm đột phá tiếp theo là Quy trình nghiệm thu xe 2 chiều:</a:t>
            </a:r>
          </a:p>
          <a:p>
            <a:r>
              <a:t>Cả lúc giao xe và nhận xe đều bắt buộc nhập ODO, vạch xăng và chụp 6 góc ảnh.</a:t>
            </a:r>
          </a:p>
          <a:p>
            <a:r>
              <a:t>Dữ liệu lưu vào bảng rental_inspections tạo bằng chứng đối soát minh bạch, loại bỏ hoàn toàn các vụ cãi vã đền bù hư hỏng.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(12:15 - 13:00):</a:t>
            </a:r>
          </a:p>
          <a:p>
            <a:r>
              <a:t>Để đảm bảo chất lượng, nhóm xây dựng 188 bài test tự động:</a:t>
            </a:r>
          </a:p>
          <a:p>
            <a:r>
              <a:t>Từ Unit Test logic tính tiền, phạt trễ hạn;</a:t>
            </a:r>
          </a:p>
          <a:p>
            <a:r>
              <a:t>MockMvc kiểm thử phân quyền;</a:t>
            </a:r>
          </a:p>
          <a:p>
            <a:r>
              <a:t>Đến Concurrency Test giả lập đa luồng đặt xe cùng lúc để chứng minh tính an toàn của Khóa bi quan.</a:t>
            </a:r>
          </a:p>
          <a:p>
            <a:r>
              <a:t>Toàn bộ 188 tests đều pass 100%.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(13:00 - 13:45):</a:t>
            </a:r>
          </a:p>
          <a:p>
            <a:r>
              <a:t>Tóm lại, sau 5 Sprints Agile Scrum, nhóm chúng em đã đạt được các kết quả trọng tâm:</a:t>
            </a:r>
          </a:p>
          <a:p>
            <a:r>
              <a:t>1. Xây dựng nền tảng thuê xe P2P an toàn, khép kín.</a:t>
            </a:r>
          </a:p>
          <a:p>
            <a:r>
              <a:t>2. Áp dụng thành công các kỹ thuật chuyên sâu: Khóa bi quan CSDL, ký quỹ VietQR 30%, bàn giao 2 chiều và AI tư vấn.</a:t>
            </a:r>
          </a:p>
          <a:p>
            <a:r>
              <a:t>3. Tuân thủ quy trình phát triển doanh nghiệp chuẩn chỉ với 188 bài test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(13:45 - 14:35):</a:t>
            </a:r>
          </a:p>
          <a:p>
            <a:r>
              <a:t>Với tinh thần cầu thị và trung thực khoa học, nhóm xin chủ động báo cáo 4 hạn chế hiện tại:</a:t>
            </a:r>
          </a:p>
          <a:p>
            <a:r>
              <a:t>1. Xác nhận chuyển khoản VietQR đang dùng nút mô phỏng -&gt; Hướng tới Webhook Casso.</a:t>
            </a:r>
          </a:p>
          <a:p>
            <a:r>
              <a:t>2. eKYC đang do Admin duyệt bằng mắt -&gt; Hướng tới AI OCR nhận diện CCCD.</a:t>
            </a:r>
          </a:p>
          <a:p>
            <a:r>
              <a:t>3. Thông báo dùng REST Polling -&gt; Hướng tới WebSocket STOMP.</a:t>
            </a:r>
          </a:p>
          <a:p>
            <a:r>
              <a:t>4. Danh sách xe lọc theo Tỉnh/Thành -&gt; Hướng tới nhúng bản đồ tương tác Mapbox.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(14:35 - 15:00):</a:t>
            </a:r>
          </a:p>
          <a:p>
            <a:r>
              <a:t>Bài thuyết trình báo cáo đề tài của nhóm chúng em đến đây là kết thúc.</a:t>
            </a:r>
          </a:p>
          <a:p>
            <a:r>
              <a:t>Nhóm xin gửi lời cảm ơn chân thành nhất đến quý Thầy Cô trong Hội đồng và đặc biệt là Thầy Trương Thanh Bình.</a:t>
            </a:r>
          </a:p>
          <a:p>
            <a:r>
              <a:t>Sau đây, nhóm chúng em xin được lắng nghe những ý kiến đóng góp quý báu và sẵn sàng trả lời các câu hỏi phản biện từ quý Thầy Cô. Em xin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10332720" cy="365760"/>
          </a:xfrm>
          <a:prstGeom prst="rect">
            <a:avLst/>
          </a:prstGeom>
          <a:noFill/>
        </p:spPr>
        <p:txBody>
          <a:bodyPr wrap="none">
            <a:spAutoFit/>
          </a:bodyPr>
          <a:lstStyle/>
          <a:p>
            <a:pPr>
              <a:defRPr sz="1400" b="1">
                <a:solidFill>
                  <a:srgbClr val="EA580C"/>
                </a:solidFill>
                <a:latin typeface="Segoe UI"/>
              </a:defRPr>
            </a:pPr>
            <a:r>
              <a:t>KHOA CÔNG NGHỆ THÔNG TIN - ITC  |  KHÓA K25</a:t>
            </a:r>
          </a:p>
        </p:txBody>
      </p:sp>
      <p:sp>
        <p:nvSpPr>
          <p:cNvPr id="4" name="TextBox 3"/>
          <p:cNvSpPr txBox="1"/>
          <p:nvPr/>
        </p:nvSpPr>
        <p:spPr>
          <a:xfrm>
            <a:off x="914400" y="1097280"/>
            <a:ext cx="10332720" cy="2011680"/>
          </a:xfrm>
          <a:prstGeom prst="rect">
            <a:avLst/>
          </a:prstGeom>
          <a:noFill/>
        </p:spPr>
        <p:txBody>
          <a:bodyPr wrap="square">
            <a:spAutoFit/>
          </a:bodyPr>
          <a:lstStyle/>
          <a:p>
            <a:pPr>
              <a:defRPr sz="4600" b="1">
                <a:solidFill>
                  <a:srgbClr val="0F172A"/>
                </a:solidFill>
                <a:latin typeface="Segoe UI"/>
              </a:defRPr>
            </a:pPr>
            <a:r>
              <a:t>DRIVESHARE</a:t>
            </a:r>
          </a:p>
          <a:p>
            <a:pPr>
              <a:defRPr sz="2200" b="1">
                <a:solidFill>
                  <a:srgbClr val="0D9488"/>
                </a:solidFill>
                <a:latin typeface="Segoe UI"/>
              </a:defRPr>
            </a:pPr>
            <a:r>
              <a:t>Nền Tảng Cho Thuê Xe Tự Lái P2P Trực Tuyến</a:t>
            </a:r>
          </a:p>
          <a:p>
            <a:pPr>
              <a:defRPr sz="1450">
                <a:solidFill>
                  <a:srgbClr val="475569"/>
                </a:solidFill>
                <a:latin typeface="Segoe UI"/>
              </a:defRPr>
            </a:pPr>
            <a:r>
              <a:t>Spring Boot 3  •  PostgreSQL 16  •  VietQR Escrow 30%  •  Gemini AI Assistant</a:t>
            </a:r>
          </a:p>
        </p:txBody>
      </p:sp>
      <p:sp>
        <p:nvSpPr>
          <p:cNvPr id="5" name="Rounded Rectangle 4"/>
          <p:cNvSpPr/>
          <p:nvPr/>
        </p:nvSpPr>
        <p:spPr>
          <a:xfrm>
            <a:off x="914400" y="3429000"/>
            <a:ext cx="4846320" cy="2880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a:lstStyle/>
          <a:p>
            <a:pPr algn="ctr">
              <a:spcAft>
                <a:spcPts val="400"/>
              </a:spcAft>
              <a:defRPr sz="1200" b="1">
                <a:solidFill>
                  <a:srgbClr val="1E3A8A"/>
                </a:solidFill>
                <a:latin typeface="Segoe UI"/>
              </a:defRPr>
            </a:pPr>
            <a:r>
              <a:t>GIẢNG VIÊN HƯỚNG DẪN</a:t>
            </a:r>
          </a:p>
          <a:p>
            <a:pPr>
              <a:spcAft>
                <a:spcPts val="1200"/>
              </a:spcAft>
              <a:defRPr sz="2000" b="1">
                <a:solidFill>
                  <a:srgbClr val="0F172A"/>
                </a:solidFill>
                <a:latin typeface="Segoe UI"/>
              </a:defRPr>
            </a:pPr>
            <a:r>
              <a:t>Thầy Trương Thanh Bình</a:t>
            </a:r>
          </a:p>
          <a:p>
            <a:pPr>
              <a:defRPr sz="1300">
                <a:solidFill>
                  <a:srgbClr val="475569"/>
                </a:solidFill>
                <a:latin typeface="Segoe UI"/>
              </a:defRPr>
            </a:pPr>
            <a:r>
              <a:t>Bộ môn: Công nghệ Phần mềm</a:t>
            </a:r>
            <a:br/>
            <a:r>
              <a:t>Trường Cao đẳng Công nghệ Thông tin TP.HCM (ITC)</a:t>
            </a:r>
            <a:br/>
            <a:r>
              <a:t>Niên khóa: 2025 - 2027</a:t>
            </a:r>
          </a:p>
        </p:txBody>
      </p:sp>
      <p:sp>
        <p:nvSpPr>
          <p:cNvPr id="6" name="Rounded Rectangle 5"/>
          <p:cNvSpPr/>
          <p:nvPr/>
        </p:nvSpPr>
        <p:spPr>
          <a:xfrm>
            <a:off x="6035040" y="3429000"/>
            <a:ext cx="5212080" cy="2880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a:lstStyle/>
          <a:p>
            <a:pPr algn="ctr">
              <a:spcAft>
                <a:spcPts val="600"/>
              </a:spcAft>
              <a:defRPr sz="1200" b="1">
                <a:solidFill>
                  <a:srgbClr val="1E3A8A"/>
                </a:solidFill>
                <a:latin typeface="Segoe UI"/>
              </a:defRPr>
            </a:pPr>
            <a:r>
              <a:t>NHÓM THỰC HIỆN (6 THÀNH VIÊN)</a:t>
            </a:r>
          </a:p>
          <a:p>
            <a:pPr>
              <a:defRPr sz="1200">
                <a:solidFill>
                  <a:srgbClr val="0F172A"/>
                </a:solidFill>
                <a:latin typeface="Segoe UI"/>
              </a:defRPr>
            </a:pPr>
            <a:r>
              <a:t>•  Nguyễn Duy Bảo  —  Tech Lead / Thuyết trình chính</a:t>
            </a:r>
          </a:p>
          <a:p>
            <a:pPr>
              <a:defRPr sz="1200">
                <a:solidFill>
                  <a:srgbClr val="475569"/>
                </a:solidFill>
                <a:latin typeface="Segoe UI"/>
              </a:defRPr>
            </a:pPr>
            <a:r>
              <a:t>•  Nguyễn Chí Tín  —  Fullstack Dev (Payment &amp; UI)</a:t>
            </a:r>
          </a:p>
          <a:p>
            <a:pPr>
              <a:defRPr sz="1200">
                <a:solidFill>
                  <a:srgbClr val="475569"/>
                </a:solidFill>
                <a:latin typeface="Segoe UI"/>
              </a:defRPr>
            </a:pPr>
            <a:r>
              <a:t>•  Lâm Chí Vĩ  —  Backend Core (Handover &amp; Locking)</a:t>
            </a:r>
          </a:p>
          <a:p>
            <a:pPr>
              <a:defRPr sz="1200">
                <a:solidFill>
                  <a:srgbClr val="475569"/>
                </a:solidFill>
                <a:latin typeface="Segoe UI"/>
              </a:defRPr>
            </a:pPr>
            <a:r>
              <a:t>•  Đỗ Ngọc Phát  —  AI &amp; Security (Gemini &amp; Token)</a:t>
            </a:r>
          </a:p>
          <a:p>
            <a:pPr>
              <a:defRPr sz="1200">
                <a:solidFill>
                  <a:srgbClr val="475569"/>
                </a:solidFill>
                <a:latin typeface="Segoe UI"/>
              </a:defRPr>
            </a:pPr>
            <a:r>
              <a:t>•  Nguyễn Duy Quân  —  QA Tester (188 Tests &amp; Overdue)</a:t>
            </a:r>
          </a:p>
          <a:p>
            <a:pPr>
              <a:defRPr sz="1200">
                <a:solidFill>
                  <a:srgbClr val="475569"/>
                </a:solidFill>
                <a:latin typeface="Segoe UI"/>
              </a:defRPr>
            </a:pPr>
            <a:r>
              <a:t>•  NguyễnTấn Lộc Khiêm  —  Kiến trúc sư (Use Case &amp; ERD)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1.1  Bối Cảnh &amp; Một Vài Bất Cập Của Thuê Xe Truyền Thống</a:t>
            </a:r>
          </a:p>
          <a:p>
            <a:pPr>
              <a:spcBef>
                <a:spcPts val="400"/>
              </a:spcBef>
              <a:defRPr sz="1300">
                <a:solidFill>
                  <a:srgbClr val="475569"/>
                </a:solidFill>
                <a:latin typeface="Segoe UI"/>
              </a:defRPr>
            </a:pPr>
            <a:r>
              <a:t>&gt; Nhu cầu thuê xe tự lái gia tăng nhanh nhưng phương thức truyền thống lộ rõ rủi ro:</a:t>
            </a:r>
          </a:p>
        </p:txBody>
      </p:sp>
      <p:sp>
        <p:nvSpPr>
          <p:cNvPr id="4" name="Rounded Rectangle 3"/>
          <p:cNvSpPr/>
          <p:nvPr/>
        </p:nvSpPr>
        <p:spPr>
          <a:xfrm>
            <a:off x="731520" y="1600200"/>
            <a:ext cx="34134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b="1">
                <a:solidFill>
                  <a:srgbClr val="EA580C"/>
                </a:solidFill>
                <a:latin typeface="Segoe UI"/>
              </a:defRPr>
            </a:pPr>
            <a:r>
              <a:t>BẤT CẬP 01</a:t>
            </a:r>
          </a:p>
          <a:p>
            <a:pPr>
              <a:spcAft>
                <a:spcPts val="1400"/>
              </a:spcAft>
              <a:defRPr sz="1700" b="1">
                <a:solidFill>
                  <a:srgbClr val="0F172A"/>
                </a:solidFill>
                <a:latin typeface="Segoe UI"/>
              </a:defRPr>
            </a:pPr>
            <a:r>
              <a:t>Rủi Ro Giữ Tài Sản</a:t>
            </a:r>
          </a:p>
          <a:p>
            <a:pPr>
              <a:spcAft>
                <a:spcPts val="900"/>
              </a:spcAft>
              <a:defRPr sz="1300">
                <a:solidFill>
                  <a:srgbClr val="475569"/>
                </a:solidFill>
                <a:latin typeface="Segoe UI"/>
              </a:defRPr>
            </a:pPr>
            <a:r>
              <a:t>•  Bắt buộc giữ CCCD gốc hoặc xe máy kèm cà-vẹt đắt tiền.</a:t>
            </a:r>
          </a:p>
          <a:p>
            <a:pPr>
              <a:spcAft>
                <a:spcPts val="900"/>
              </a:spcAft>
              <a:defRPr sz="1300">
                <a:solidFill>
                  <a:srgbClr val="475569"/>
                </a:solidFill>
                <a:latin typeface="Segoe UI"/>
              </a:defRPr>
            </a:pPr>
            <a:r>
              <a:t>•  Nguy cơ lộ lọt thông tin cá nhân và thiếu căn cứ pháp lý.</a:t>
            </a:r>
          </a:p>
          <a:p>
            <a:pPr>
              <a:spcAft>
                <a:spcPts val="900"/>
              </a:spcAft>
              <a:defRPr sz="1300">
                <a:solidFill>
                  <a:srgbClr val="475569"/>
                </a:solidFill>
                <a:latin typeface="Segoe UI"/>
              </a:defRPr>
            </a:pPr>
            <a:r>
              <a:t>•  Gây áp lực tâm lý và rào cản tài chính lớn cho khách thuê.</a:t>
            </a:r>
          </a:p>
        </p:txBody>
      </p:sp>
      <p:sp>
        <p:nvSpPr>
          <p:cNvPr id="5" name="Rounded Rectangle 4"/>
          <p:cNvSpPr/>
          <p:nvPr/>
        </p:nvSpPr>
        <p:spPr>
          <a:xfrm>
            <a:off x="4389120" y="1600200"/>
            <a:ext cx="34134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b="1">
                <a:solidFill>
                  <a:srgbClr val="EA580C"/>
                </a:solidFill>
                <a:latin typeface="Segoe UI"/>
              </a:defRPr>
            </a:pPr>
            <a:r>
              <a:t>BẤT CẬP 02</a:t>
            </a:r>
          </a:p>
          <a:p>
            <a:pPr>
              <a:spcAft>
                <a:spcPts val="1400"/>
              </a:spcAft>
              <a:defRPr sz="1700" b="1">
                <a:solidFill>
                  <a:srgbClr val="0F172A"/>
                </a:solidFill>
                <a:latin typeface="Segoe UI"/>
              </a:defRPr>
            </a:pPr>
            <a:r>
              <a:t>Tranh Chấp Hư Hỏng</a:t>
            </a:r>
          </a:p>
          <a:p>
            <a:pPr>
              <a:spcAft>
                <a:spcPts val="900"/>
              </a:spcAft>
              <a:defRPr sz="1300">
                <a:solidFill>
                  <a:srgbClr val="475569"/>
                </a:solidFill>
                <a:latin typeface="Segoe UI"/>
              </a:defRPr>
            </a:pPr>
            <a:r>
              <a:t>•  Không có quy trình nghiệm thu tình trạng xe minh bạch.</a:t>
            </a:r>
          </a:p>
          <a:p>
            <a:pPr>
              <a:spcAft>
                <a:spcPts val="900"/>
              </a:spcAft>
              <a:defRPr sz="1300">
                <a:solidFill>
                  <a:srgbClr val="475569"/>
                </a:solidFill>
                <a:latin typeface="Segoe UI"/>
              </a:defRPr>
            </a:pPr>
            <a:r>
              <a:t>•  Khách thuê dễ bị 'bắt đền oan' các vết xước có từ trước.</a:t>
            </a:r>
          </a:p>
          <a:p>
            <a:pPr>
              <a:spcAft>
                <a:spcPts val="900"/>
              </a:spcAft>
              <a:defRPr sz="1300">
                <a:solidFill>
                  <a:srgbClr val="475569"/>
                </a:solidFill>
                <a:latin typeface="Segoe UI"/>
              </a:defRPr>
            </a:pPr>
            <a:r>
              <a:t>•  Thiếu bằng chứng đối soát khi hai bên bàn giao chìa khóa.</a:t>
            </a:r>
          </a:p>
        </p:txBody>
      </p:sp>
      <p:sp>
        <p:nvSpPr>
          <p:cNvPr id="6" name="Rounded Rectangle 5"/>
          <p:cNvSpPr/>
          <p:nvPr/>
        </p:nvSpPr>
        <p:spPr>
          <a:xfrm>
            <a:off x="8046720" y="1600200"/>
            <a:ext cx="34134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b="1">
                <a:solidFill>
                  <a:srgbClr val="EA580C"/>
                </a:solidFill>
                <a:latin typeface="Segoe UI"/>
              </a:defRPr>
            </a:pPr>
            <a:r>
              <a:t>BẤT CẬP 03</a:t>
            </a:r>
          </a:p>
          <a:p>
            <a:pPr>
              <a:spcAft>
                <a:spcPts val="1400"/>
              </a:spcAft>
              <a:defRPr sz="1700" b="1">
                <a:solidFill>
                  <a:srgbClr val="0F172A"/>
                </a:solidFill>
                <a:latin typeface="Segoe UI"/>
              </a:defRPr>
            </a:pPr>
            <a:r>
              <a:t>Quản Lý Thủ Công</a:t>
            </a:r>
          </a:p>
          <a:p>
            <a:pPr>
              <a:spcAft>
                <a:spcPts val="900"/>
              </a:spcAft>
              <a:defRPr sz="1300">
                <a:solidFill>
                  <a:srgbClr val="475569"/>
                </a:solidFill>
                <a:latin typeface="Segoe UI"/>
              </a:defRPr>
            </a:pPr>
            <a:r>
              <a:t>•  Chốt đơn qua tin nhắn Zalo, sổ tay nên rất dễ quên lịch.</a:t>
            </a:r>
          </a:p>
          <a:p>
            <a:pPr>
              <a:spcAft>
                <a:spcPts val="900"/>
              </a:spcAft>
              <a:defRPr sz="1300">
                <a:solidFill>
                  <a:srgbClr val="475569"/>
                </a:solidFill>
                <a:latin typeface="Segoe UI"/>
              </a:defRPr>
            </a:pPr>
            <a:r>
              <a:t>•  Nguy cơ nhận cọc của 2 người cùng một ngày (Overbooking).</a:t>
            </a:r>
          </a:p>
          <a:p>
            <a:pPr>
              <a:spcAft>
                <a:spcPts val="900"/>
              </a:spcAft>
              <a:defRPr sz="1300">
                <a:solidFill>
                  <a:srgbClr val="475569"/>
                </a:solidFill>
                <a:latin typeface="Segoe UI"/>
              </a:defRPr>
            </a:pPr>
            <a:r>
              <a:t>•  Chưa có công cụ tự động hóa kiểm soát xe quá hạn hợp đồng.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1.2  Bảng Đối Chuẩn Tiêu Chí: Mioto vs Zoomcar vs DriveShare</a:t>
            </a:r>
          </a:p>
          <a:p>
            <a:pPr>
              <a:spcBef>
                <a:spcPts val="400"/>
              </a:spcBef>
              <a:defRPr sz="1300">
                <a:solidFill>
                  <a:srgbClr val="475569"/>
                </a:solidFill>
                <a:latin typeface="Segoe UI"/>
              </a:defRPr>
            </a:pPr>
            <a:r>
              <a:t>&gt; So sánh 5 tiêu chí nghiệp vụ cốt lõi giữa các nền tảng cho thuê xe:</a:t>
            </a:r>
          </a:p>
        </p:txBody>
      </p:sp>
      <p:graphicFrame>
        <p:nvGraphicFramePr>
          <p:cNvPr id="4" name="Table 3"/>
          <p:cNvGraphicFramePr>
            <a:graphicFrameLocks noGrp="1"/>
          </p:cNvGraphicFramePr>
          <p:nvPr/>
        </p:nvGraphicFramePr>
        <p:xfrm>
          <a:off x="731520" y="1600200"/>
          <a:ext cx="10728655" cy="4663440"/>
        </p:xfrm>
        <a:graphic>
          <a:graphicData uri="http://schemas.openxmlformats.org/drawingml/2006/table">
            <a:tbl>
              <a:tblPr firstRow="1" bandRow="1">
                <a:tableStyleId>{5C22544A-7EE6-4342-B048-85BDC9FD1C3A}</a:tableStyleId>
              </a:tblPr>
              <a:tblGrid>
                <a:gridCol w="2926080"/>
                <a:gridCol w="2468880"/>
                <a:gridCol w="2468880"/>
                <a:gridCol w="2864815"/>
              </a:tblGrid>
              <a:tr h="777240">
                <a:tc>
                  <a:txBody>
                    <a:bodyPr/>
                    <a:lstStyle/>
                    <a:p>
                      <a:pPr algn="ctr">
                        <a:defRPr sz="1350" b="1">
                          <a:solidFill>
                            <a:srgbClr val="FFFFFF"/>
                          </a:solidFill>
                          <a:latin typeface="Segoe UI"/>
                        </a:defRPr>
                      </a:pPr>
                      <a:r>
                        <a:t>Tiêu Chí Nghiệp Vụ</a:t>
                      </a:r>
                    </a:p>
                  </a:txBody>
                  <a:tcPr>
                    <a:solidFill>
                      <a:srgbClr val="1E3A8A"/>
                    </a:solidFill>
                  </a:tcPr>
                </a:tc>
                <a:tc>
                  <a:txBody>
                    <a:bodyPr/>
                    <a:lstStyle/>
                    <a:p>
                      <a:pPr algn="ctr">
                        <a:defRPr sz="1350" b="1">
                          <a:solidFill>
                            <a:srgbClr val="FFFFFF"/>
                          </a:solidFill>
                          <a:latin typeface="Segoe UI"/>
                        </a:defRPr>
                      </a:pPr>
                      <a:r>
                        <a:t>Mioto</a:t>
                      </a:r>
                    </a:p>
                  </a:txBody>
                  <a:tcPr>
                    <a:solidFill>
                      <a:srgbClr val="1E3A8A"/>
                    </a:solidFill>
                  </a:tcPr>
                </a:tc>
                <a:tc>
                  <a:txBody>
                    <a:bodyPr/>
                    <a:lstStyle/>
                    <a:p>
                      <a:pPr algn="ctr">
                        <a:defRPr sz="1350" b="1">
                          <a:solidFill>
                            <a:srgbClr val="FFFFFF"/>
                          </a:solidFill>
                          <a:latin typeface="Segoe UI"/>
                        </a:defRPr>
                      </a:pPr>
                      <a:r>
                        <a:t>Zoomcar</a:t>
                      </a:r>
                    </a:p>
                  </a:txBody>
                  <a:tcPr>
                    <a:solidFill>
                      <a:srgbClr val="1E3A8A"/>
                    </a:solidFill>
                  </a:tcPr>
                </a:tc>
                <a:tc>
                  <a:txBody>
                    <a:bodyPr/>
                    <a:lstStyle/>
                    <a:p>
                      <a:pPr algn="ctr">
                        <a:defRPr sz="1350" b="1">
                          <a:solidFill>
                            <a:srgbClr val="FFFFFF"/>
                          </a:solidFill>
                          <a:latin typeface="Segoe UI"/>
                        </a:defRPr>
                      </a:pPr>
                      <a:r>
                        <a:t>DriveShare (Đề Tài K25)</a:t>
                      </a:r>
                    </a:p>
                  </a:txBody>
                  <a:tcPr>
                    <a:solidFill>
                      <a:srgbClr val="1E3A8A"/>
                    </a:solidFill>
                  </a:tcPr>
                </a:tc>
              </a:tr>
              <a:tr h="777240">
                <a:tc>
                  <a:txBody>
                    <a:bodyPr/>
                    <a:lstStyle/>
                    <a:p>
                      <a:pPr algn="l">
                        <a:defRPr sz="1300">
                          <a:solidFill>
                            <a:srgbClr val="0F172A"/>
                          </a:solidFill>
                          <a:latin typeface="Segoe UI"/>
                        </a:defRPr>
                      </a:pPr>
                      <a:r>
                        <a:t>Chính sách Cọc &amp; Giữ chỗ</a:t>
                      </a:r>
                    </a:p>
                  </a:txBody>
                  <a:tcPr>
                    <a:solidFill>
                      <a:srgbClr val="FFFFFF"/>
                    </a:solidFill>
                  </a:tcPr>
                </a:tc>
                <a:tc>
                  <a:txBody>
                    <a:bodyPr/>
                    <a:lstStyle/>
                    <a:p>
                      <a:pPr algn="ctr">
                        <a:defRPr sz="1300">
                          <a:solidFill>
                            <a:srgbClr val="0F172A"/>
                          </a:solidFill>
                          <a:latin typeface="Segoe UI"/>
                        </a:defRPr>
                      </a:pPr>
                      <a:r>
                        <a:t>100% tiền thuê chuyển khoản</a:t>
                      </a:r>
                    </a:p>
                  </a:txBody>
                  <a:tcPr>
                    <a:solidFill>
                      <a:srgbClr val="FFFFFF"/>
                    </a:solidFill>
                  </a:tcPr>
                </a:tc>
                <a:tc>
                  <a:txBody>
                    <a:bodyPr/>
                    <a:lstStyle/>
                    <a:p>
                      <a:pPr algn="ctr">
                        <a:defRPr sz="1300">
                          <a:solidFill>
                            <a:srgbClr val="0F172A"/>
                          </a:solidFill>
                          <a:latin typeface="Segoe UI"/>
                        </a:defRPr>
                      </a:pPr>
                      <a:r>
                        <a:t>Giữ qua Thẻ tín dụng</a:t>
                      </a:r>
                    </a:p>
                  </a:txBody>
                  <a:tcPr>
                    <a:solidFill>
                      <a:srgbClr val="FFFFFF"/>
                    </a:solidFill>
                  </a:tcPr>
                </a:tc>
                <a:tc>
                  <a:txBody>
                    <a:bodyPr/>
                    <a:lstStyle/>
                    <a:p>
                      <a:pPr algn="ctr">
                        <a:defRPr sz="1300" b="1">
                          <a:solidFill>
                            <a:srgbClr val="0F172A"/>
                          </a:solidFill>
                          <a:latin typeface="Segoe UI"/>
                        </a:defRPr>
                      </a:pPr>
                      <a:r>
                        <a:t>Ký quỹ 30% VietQR linh hoạt</a:t>
                      </a:r>
                    </a:p>
                  </a:txBody>
                  <a:tcPr>
                    <a:solidFill>
                      <a:srgbClr val="FFFFFF"/>
                    </a:solidFill>
                  </a:tcPr>
                </a:tc>
              </a:tr>
              <a:tr h="777240">
                <a:tc>
                  <a:txBody>
                    <a:bodyPr/>
                    <a:lstStyle/>
                    <a:p>
                      <a:pPr algn="l">
                        <a:defRPr sz="1300">
                          <a:solidFill>
                            <a:srgbClr val="0F172A"/>
                          </a:solidFill>
                          <a:latin typeface="Segoe UI"/>
                        </a:defRPr>
                      </a:pPr>
                      <a:r>
                        <a:t>Trợ lý ảo AI tư vấn 24/7</a:t>
                      </a:r>
                    </a:p>
                  </a:txBody>
                  <a:tcPr>
                    <a:solidFill>
                      <a:srgbClr val="EEF2FF"/>
                    </a:solidFill>
                  </a:tcPr>
                </a:tc>
                <a:tc>
                  <a:txBody>
                    <a:bodyPr/>
                    <a:lstStyle/>
                    <a:p>
                      <a:pPr algn="ctr">
                        <a:defRPr sz="1300">
                          <a:solidFill>
                            <a:srgbClr val="0F172A"/>
                          </a:solidFill>
                          <a:latin typeface="Segoe UI"/>
                        </a:defRPr>
                      </a:pPr>
                      <a:r>
                        <a:t>Không có</a:t>
                      </a:r>
                    </a:p>
                  </a:txBody>
                  <a:tcPr>
                    <a:solidFill>
                      <a:srgbClr val="EEF2FF"/>
                    </a:solidFill>
                  </a:tcPr>
                </a:tc>
                <a:tc>
                  <a:txBody>
                    <a:bodyPr/>
                    <a:lstStyle/>
                    <a:p>
                      <a:pPr algn="ctr">
                        <a:defRPr sz="1300">
                          <a:solidFill>
                            <a:srgbClr val="0F172A"/>
                          </a:solidFill>
                          <a:latin typeface="Segoe UI"/>
                        </a:defRPr>
                      </a:pPr>
                      <a:r>
                        <a:t>Không có</a:t>
                      </a:r>
                    </a:p>
                  </a:txBody>
                  <a:tcPr>
                    <a:solidFill>
                      <a:srgbClr val="EEF2FF"/>
                    </a:solidFill>
                  </a:tcPr>
                </a:tc>
                <a:tc>
                  <a:txBody>
                    <a:bodyPr/>
                    <a:lstStyle/>
                    <a:p>
                      <a:pPr algn="ctr">
                        <a:defRPr sz="1300" b="1">
                          <a:solidFill>
                            <a:srgbClr val="0F172A"/>
                          </a:solidFill>
                          <a:latin typeface="Segoe UI"/>
                        </a:defRPr>
                      </a:pPr>
                      <a:r>
                        <a:t>AI Gemini 2.5 Flash + Heuristic</a:t>
                      </a:r>
                    </a:p>
                  </a:txBody>
                  <a:tcPr>
                    <a:solidFill>
                      <a:srgbClr val="EEF2FF"/>
                    </a:solidFill>
                  </a:tcPr>
                </a:tc>
              </a:tr>
              <a:tr h="777240">
                <a:tc>
                  <a:txBody>
                    <a:bodyPr/>
                    <a:lstStyle/>
                    <a:p>
                      <a:pPr algn="l">
                        <a:defRPr sz="1300">
                          <a:solidFill>
                            <a:srgbClr val="0F172A"/>
                          </a:solidFill>
                          <a:latin typeface="Segoe UI"/>
                        </a:defRPr>
                      </a:pPr>
                      <a:r>
                        <a:t>Chặn lịch bận xe (Blackout)</a:t>
                      </a:r>
                    </a:p>
                  </a:txBody>
                  <a:tcPr>
                    <a:solidFill>
                      <a:srgbClr val="FFFFFF"/>
                    </a:solidFill>
                  </a:tcPr>
                </a:tc>
                <a:tc>
                  <a:txBody>
                    <a:bodyPr/>
                    <a:lstStyle/>
                    <a:p>
                      <a:pPr algn="ctr">
                        <a:defRPr sz="1300">
                          <a:solidFill>
                            <a:srgbClr val="0F172A"/>
                          </a:solidFill>
                          <a:latin typeface="Segoe UI"/>
                        </a:defRPr>
                      </a:pPr>
                      <a:r>
                        <a:t>Có hỗ trợ</a:t>
                      </a:r>
                    </a:p>
                  </a:txBody>
                  <a:tcPr>
                    <a:solidFill>
                      <a:srgbClr val="FFFFFF"/>
                    </a:solidFill>
                  </a:tcPr>
                </a:tc>
                <a:tc>
                  <a:txBody>
                    <a:bodyPr/>
                    <a:lstStyle/>
                    <a:p>
                      <a:pPr algn="ctr">
                        <a:defRPr sz="1300">
                          <a:solidFill>
                            <a:srgbClr val="0F172A"/>
                          </a:solidFill>
                          <a:latin typeface="Segoe UI"/>
                        </a:defRPr>
                      </a:pPr>
                      <a:r>
                        <a:t>Hạn chế tính năng</a:t>
                      </a:r>
                    </a:p>
                  </a:txBody>
                  <a:tcPr>
                    <a:solidFill>
                      <a:srgbClr val="FFFFFF"/>
                    </a:solidFill>
                  </a:tcPr>
                </a:tc>
                <a:tc>
                  <a:txBody>
                    <a:bodyPr/>
                    <a:lstStyle/>
                    <a:p>
                      <a:pPr algn="ctr">
                        <a:defRPr sz="1300" b="1">
                          <a:solidFill>
                            <a:srgbClr val="0F172A"/>
                          </a:solidFill>
                          <a:latin typeface="Segoe UI"/>
                        </a:defRPr>
                      </a:pPr>
                      <a:r>
                        <a:t>Chặn lịch bảo dưỡng chủ động</a:t>
                      </a:r>
                    </a:p>
                  </a:txBody>
                  <a:tcPr>
                    <a:solidFill>
                      <a:srgbClr val="FFFFFF"/>
                    </a:solidFill>
                  </a:tcPr>
                </a:tc>
              </a:tr>
              <a:tr h="777240">
                <a:tc>
                  <a:txBody>
                    <a:bodyPr/>
                    <a:lstStyle/>
                    <a:p>
                      <a:pPr algn="l">
                        <a:defRPr sz="1300">
                          <a:solidFill>
                            <a:srgbClr val="0F172A"/>
                          </a:solidFill>
                          <a:latin typeface="Segoe UI"/>
                        </a:defRPr>
                      </a:pPr>
                      <a:r>
                        <a:t>Biên bản bàn giao 2 chiều</a:t>
                      </a:r>
                    </a:p>
                  </a:txBody>
                  <a:tcPr>
                    <a:solidFill>
                      <a:srgbClr val="EEF2FF"/>
                    </a:solidFill>
                  </a:tcPr>
                </a:tc>
                <a:tc>
                  <a:txBody>
                    <a:bodyPr/>
                    <a:lstStyle/>
                    <a:p>
                      <a:pPr algn="ctr">
                        <a:defRPr sz="1300">
                          <a:solidFill>
                            <a:srgbClr val="0F172A"/>
                          </a:solidFill>
                          <a:latin typeface="Segoe UI"/>
                        </a:defRPr>
                      </a:pPr>
                      <a:r>
                        <a:t>Giấy tờ hoặc 1 bên duyệt</a:t>
                      </a:r>
                    </a:p>
                  </a:txBody>
                  <a:tcPr>
                    <a:solidFill>
                      <a:srgbClr val="EEF2FF"/>
                    </a:solidFill>
                  </a:tcPr>
                </a:tc>
                <a:tc>
                  <a:txBody>
                    <a:bodyPr/>
                    <a:lstStyle/>
                    <a:p>
                      <a:pPr algn="ctr">
                        <a:defRPr sz="1300">
                          <a:solidFill>
                            <a:srgbClr val="0F172A"/>
                          </a:solidFill>
                          <a:latin typeface="Segoe UI"/>
                        </a:defRPr>
                      </a:pPr>
                      <a:r>
                        <a:t>Nhân viên kiểm tra</a:t>
                      </a:r>
                    </a:p>
                  </a:txBody>
                  <a:tcPr>
                    <a:solidFill>
                      <a:srgbClr val="EEF2FF"/>
                    </a:solidFill>
                  </a:tcPr>
                </a:tc>
                <a:tc>
                  <a:txBody>
                    <a:bodyPr/>
                    <a:lstStyle/>
                    <a:p>
                      <a:pPr algn="ctr">
                        <a:defRPr sz="1300" b="1">
                          <a:solidFill>
                            <a:srgbClr val="0F172A"/>
                          </a:solidFill>
                          <a:latin typeface="Segoe UI"/>
                        </a:defRPr>
                      </a:pPr>
                      <a:r>
                        <a:t>Điện tử 2 chiều: ODO, Xăng, 6 ảnh</a:t>
                      </a:r>
                    </a:p>
                  </a:txBody>
                  <a:tcPr>
                    <a:solidFill>
                      <a:srgbClr val="EEF2FF"/>
                    </a:solidFill>
                  </a:tcPr>
                </a:tc>
              </a:tr>
              <a:tr h="777240">
                <a:tc>
                  <a:txBody>
                    <a:bodyPr/>
                    <a:lstStyle/>
                    <a:p>
                      <a:pPr algn="l">
                        <a:defRPr sz="1300">
                          <a:solidFill>
                            <a:srgbClr val="0F172A"/>
                          </a:solidFill>
                          <a:latin typeface="Segoe UI"/>
                        </a:defRPr>
                      </a:pPr>
                      <a:r>
                        <a:t>Chế tài quá hạn &amp; Điều 175</a:t>
                      </a:r>
                    </a:p>
                  </a:txBody>
                  <a:tcPr>
                    <a:solidFill>
                      <a:srgbClr val="FFFFFF"/>
                    </a:solidFill>
                  </a:tcPr>
                </a:tc>
                <a:tc>
                  <a:txBody>
                    <a:bodyPr/>
                    <a:lstStyle/>
                    <a:p>
                      <a:pPr algn="ctr">
                        <a:defRPr sz="1300">
                          <a:solidFill>
                            <a:srgbClr val="0F172A"/>
                          </a:solidFill>
                          <a:latin typeface="Segoe UI"/>
                        </a:defRPr>
                      </a:pPr>
                      <a:r>
                        <a:t>Tính phí giờ thủ công</a:t>
                      </a:r>
                    </a:p>
                  </a:txBody>
                  <a:tcPr>
                    <a:solidFill>
                      <a:srgbClr val="FFFFFF"/>
                    </a:solidFill>
                  </a:tcPr>
                </a:tc>
                <a:tc>
                  <a:txBody>
                    <a:bodyPr/>
                    <a:lstStyle/>
                    <a:p>
                      <a:pPr algn="ctr">
                        <a:defRPr sz="1300">
                          <a:solidFill>
                            <a:srgbClr val="0F172A"/>
                          </a:solidFill>
                          <a:latin typeface="Segoe UI"/>
                        </a:defRPr>
                      </a:pPr>
                      <a:r>
                        <a:t>Phạt theo giờ cố định</a:t>
                      </a:r>
                    </a:p>
                  </a:txBody>
                  <a:tcPr>
                    <a:solidFill>
                      <a:srgbClr val="FFFFFF"/>
                    </a:solidFill>
                  </a:tcPr>
                </a:tc>
                <a:tc>
                  <a:txBody>
                    <a:bodyPr/>
                    <a:lstStyle/>
                    <a:p>
                      <a:pPr algn="ctr">
                        <a:defRPr sz="1300" b="1">
                          <a:solidFill>
                            <a:srgbClr val="0F172A"/>
                          </a:solidFill>
                          <a:latin typeface="Segoe UI"/>
                        </a:defRPr>
                      </a:pPr>
                      <a:r>
                        <a:t>Tự động phạt 1.5x-2x &amp; Hồ sơ 1-click</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1.3  4 Mục Tiêu Cốt Lõi Của Đề Tài</a:t>
            </a:r>
          </a:p>
          <a:p>
            <a:pPr>
              <a:spcBef>
                <a:spcPts val="400"/>
              </a:spcBef>
              <a:defRPr sz="1300">
                <a:solidFill>
                  <a:srgbClr val="475569"/>
                </a:solidFill>
                <a:latin typeface="Segoe UI"/>
              </a:defRPr>
            </a:pPr>
            <a:r>
              <a:t>&gt; Định hướng nghiên cứu và phát triển giải pháp toàn diện cho nền tảng:</a:t>
            </a:r>
          </a:p>
        </p:txBody>
      </p:sp>
      <p:sp>
        <p:nvSpPr>
          <p:cNvPr id="4" name="Rounded Rectangle 3"/>
          <p:cNvSpPr/>
          <p:nvPr/>
        </p:nvSpPr>
        <p:spPr>
          <a:xfrm>
            <a:off x="731520" y="160020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MỤC TIÊU 01</a:t>
            </a:r>
          </a:p>
          <a:p>
            <a:pPr>
              <a:spcAft>
                <a:spcPts val="500"/>
              </a:spcAft>
              <a:defRPr sz="1600" b="1">
                <a:solidFill>
                  <a:srgbClr val="0F172A"/>
                </a:solidFill>
                <a:latin typeface="Segoe UI"/>
              </a:defRPr>
            </a:pPr>
            <a:r>
              <a:t>Nền Tảng P2P An Toàn &amp; Tiện Lợi</a:t>
            </a:r>
          </a:p>
          <a:p>
            <a:pPr>
              <a:spcAft>
                <a:spcPts val="200"/>
              </a:spcAft>
              <a:defRPr sz="1250">
                <a:solidFill>
                  <a:srgbClr val="475569"/>
                </a:solidFill>
                <a:latin typeface="Segoe UI"/>
              </a:defRPr>
            </a:pPr>
            <a:r>
              <a:t>Xây dựng Web Fullstack Responsive kết nối trực tiếp xe nhàn rỗi và khách thuê với chi phí tối ưu nhất.</a:t>
            </a:r>
          </a:p>
        </p:txBody>
      </p:sp>
      <p:sp>
        <p:nvSpPr>
          <p:cNvPr id="5" name="Rounded Rectangle 4"/>
          <p:cNvSpPr/>
          <p:nvPr/>
        </p:nvSpPr>
        <p:spPr>
          <a:xfrm>
            <a:off x="6217920" y="160020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MỤC TIÊU 02</a:t>
            </a:r>
          </a:p>
          <a:p>
            <a:pPr>
              <a:spcAft>
                <a:spcPts val="500"/>
              </a:spcAft>
              <a:defRPr sz="1600" b="1">
                <a:solidFill>
                  <a:srgbClr val="0F172A"/>
                </a:solidFill>
                <a:latin typeface="Segoe UI"/>
              </a:defRPr>
            </a:pPr>
            <a:r>
              <a:t>Bảo Vệ Tài Chính (Escrow 30%)</a:t>
            </a:r>
          </a:p>
          <a:p>
            <a:pPr>
              <a:spcAft>
                <a:spcPts val="200"/>
              </a:spcAft>
              <a:defRPr sz="1250">
                <a:solidFill>
                  <a:srgbClr val="475569"/>
                </a:solidFill>
                <a:latin typeface="Segoe UI"/>
              </a:defRPr>
            </a:pPr>
            <a:r>
              <a:t>Sàn đóng vai trò trung gian giữ cọc 30% qua VietQR, chỉ giải ngân cho chủ xe khi cuốc xe hoàn tất.</a:t>
            </a:r>
          </a:p>
        </p:txBody>
      </p:sp>
      <p:sp>
        <p:nvSpPr>
          <p:cNvPr id="6" name="Rounded Rectangle 5"/>
          <p:cNvSpPr/>
          <p:nvPr/>
        </p:nvSpPr>
        <p:spPr>
          <a:xfrm>
            <a:off x="731520" y="406908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MỤC TIÊU 03</a:t>
            </a:r>
          </a:p>
          <a:p>
            <a:pPr>
              <a:spcAft>
                <a:spcPts val="500"/>
              </a:spcAft>
              <a:defRPr sz="1600" b="1">
                <a:solidFill>
                  <a:srgbClr val="0F172A"/>
                </a:solidFill>
                <a:latin typeface="Segoe UI"/>
              </a:defRPr>
            </a:pPr>
            <a:r>
              <a:t>Triệt Tiêu Xung Đột Trùng Lịch</a:t>
            </a:r>
          </a:p>
          <a:p>
            <a:pPr>
              <a:spcAft>
                <a:spcPts val="200"/>
              </a:spcAft>
              <a:defRPr sz="1250">
                <a:solidFill>
                  <a:srgbClr val="475569"/>
                </a:solidFill>
                <a:latin typeface="Segoe UI"/>
              </a:defRPr>
            </a:pPr>
            <a:r>
              <a:t>Ứng dụng Khóa bi quan CSDL và Khóa 2 tầng (Two-Tier Lock) loại bỏ hoàn toàn nguy cơ đặt trùng xe.</a:t>
            </a:r>
          </a:p>
        </p:txBody>
      </p:sp>
      <p:sp>
        <p:nvSpPr>
          <p:cNvPr id="7" name="Rounded Rectangle 6"/>
          <p:cNvSpPr/>
          <p:nvPr/>
        </p:nvSpPr>
        <p:spPr>
          <a:xfrm>
            <a:off x="6217920" y="406908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MỤC TIÊU 04</a:t>
            </a:r>
          </a:p>
          <a:p>
            <a:pPr>
              <a:spcAft>
                <a:spcPts val="500"/>
              </a:spcAft>
              <a:defRPr sz="1600" b="1">
                <a:solidFill>
                  <a:srgbClr val="0F172A"/>
                </a:solidFill>
                <a:latin typeface="Segoe UI"/>
              </a:defRPr>
            </a:pPr>
            <a:r>
              <a:t>Trợ Lý Ảo AI Thông Minh</a:t>
            </a:r>
          </a:p>
          <a:p>
            <a:pPr>
              <a:spcAft>
                <a:spcPts val="200"/>
              </a:spcAft>
              <a:defRPr sz="1250">
                <a:solidFill>
                  <a:srgbClr val="475569"/>
                </a:solidFill>
                <a:latin typeface="Segoe UI"/>
              </a:defRPr>
            </a:pPr>
            <a:r>
              <a:t>Tích hợp mô hình AI Google Gemini 2.5 Flash hỗ trợ khách tìm xe, tính giá cọc và giải đáp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2.1  Mô Hình Kiến Trúc Hệ Thống &amp; Tech Stack</a:t>
            </a:r>
          </a:p>
          <a:p>
            <a:pPr>
              <a:spcBef>
                <a:spcPts val="400"/>
              </a:spcBef>
              <a:defRPr sz="1300">
                <a:solidFill>
                  <a:srgbClr val="475569"/>
                </a:solidFill>
                <a:latin typeface="Segoe UI"/>
              </a:defRPr>
            </a:pPr>
            <a:r>
              <a:t>&gt; Kiến trúc phân tầng Decoupled Client - Server tách biệt qua RESTful API:</a:t>
            </a:r>
          </a:p>
        </p:txBody>
      </p:sp>
      <p:sp>
        <p:nvSpPr>
          <p:cNvPr id="4" name="Rounded Rectangle 3"/>
          <p:cNvSpPr/>
          <p:nvPr/>
        </p:nvSpPr>
        <p:spPr>
          <a:xfrm>
            <a:off x="731520" y="1600200"/>
            <a:ext cx="53035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1400"/>
              </a:spcAft>
              <a:defRPr sz="1600" b="1">
                <a:solidFill>
                  <a:srgbClr val="1E3A8A"/>
                </a:solidFill>
                <a:latin typeface="Segoe UI"/>
              </a:defRPr>
            </a:pPr>
            <a:r>
              <a:t>ĐẶC ĐIỂM KIẾN TRÚC CỐT LÕI</a:t>
            </a:r>
          </a:p>
          <a:p>
            <a:pPr>
              <a:spcAft>
                <a:spcPts val="900"/>
              </a:spcAft>
              <a:defRPr sz="1300">
                <a:solidFill>
                  <a:srgbClr val="0F172A"/>
                </a:solidFill>
                <a:latin typeface="Segoe UI"/>
              </a:defRPr>
            </a:pPr>
            <a:r>
              <a:t>•  Kiến trúc Decoupled: Tách biệt Client - Server hoàn toàn qua chuẩn REST API.</a:t>
            </a:r>
          </a:p>
          <a:p>
            <a:pPr>
              <a:spcAft>
                <a:spcPts val="900"/>
              </a:spcAft>
              <a:defRPr sz="1300">
                <a:solidFill>
                  <a:srgbClr val="0F172A"/>
                </a:solidFill>
                <a:latin typeface="Segoe UI"/>
              </a:defRPr>
            </a:pPr>
            <a:r>
              <a:t>•  Backend Core: Java 17/21, Spring Boot 3.3.4 Layered Modular (9 modules độc lập).</a:t>
            </a:r>
          </a:p>
          <a:p>
            <a:pPr>
              <a:spcAft>
                <a:spcPts val="900"/>
              </a:spcAft>
              <a:defRPr sz="1300">
                <a:solidFill>
                  <a:srgbClr val="0F172A"/>
                </a:solidFill>
                <a:latin typeface="Segoe UI"/>
              </a:defRPr>
            </a:pPr>
            <a:r>
              <a:t>•  Cơ sở dữ liệu: PostgreSQL 16 Alpine đóng gói Docker (Port 5432) + Adminer.</a:t>
            </a:r>
          </a:p>
          <a:p>
            <a:pPr>
              <a:spcAft>
                <a:spcPts val="900"/>
              </a:spcAft>
              <a:defRPr sz="1300">
                <a:solidFill>
                  <a:srgbClr val="0F172A"/>
                </a:solidFill>
                <a:latin typeface="Segoe UI"/>
              </a:defRPr>
            </a:pPr>
            <a:r>
              <a:t>•  Lưu trữ Hybrid: Ưu tiên Cloudinary CDN; tự động dự phòng ổ cứng cục bộ.</a:t>
            </a:r>
          </a:p>
          <a:p>
            <a:pPr>
              <a:spcAft>
                <a:spcPts val="900"/>
              </a:spcAft>
              <a:defRPr sz="1300">
                <a:solidFill>
                  <a:srgbClr val="0F172A"/>
                </a:solidFill>
                <a:latin typeface="Segoe UI"/>
              </a:defRPr>
            </a:pPr>
            <a:r>
              <a:t>•  Trí tuệ nhân tạo: Google Gemini 2.5 Flash REST API + Chat Memory PostgreSQL.</a:t>
            </a:r>
          </a:p>
          <a:p>
            <a:pPr>
              <a:spcAft>
                <a:spcPts val="900"/>
              </a:spcAft>
              <a:defRPr sz="1300">
                <a:solidFill>
                  <a:srgbClr val="0F172A"/>
                </a:solidFill>
                <a:latin typeface="Segoe UI"/>
              </a:defRPr>
            </a:pPr>
            <a:r>
              <a:t>•  Frontend Web: HTML5, CSS3, JavaScript ES6+, Bootstrap 5 tối ưu tải tĩnh.</a:t>
            </a:r>
          </a:p>
        </p:txBody>
      </p:sp>
      <p:sp>
        <p:nvSpPr>
          <p:cNvPr id="5" name="Rounded Rectangle 4"/>
          <p:cNvSpPr/>
          <p:nvPr/>
        </p:nvSpPr>
        <p:spPr>
          <a:xfrm>
            <a:off x="6263640" y="1600200"/>
            <a:ext cx="519653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37960" y="1828800"/>
            <a:ext cx="4647895" cy="868680"/>
          </a:xfrm>
          <a:prstGeom prst="roundRect">
            <a:avLst/>
          </a:prstGeom>
          <a:solidFill>
            <a:srgbClr val="EEF2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PRESENTATION LAYER (CLIENT WEB)</a:t>
            </a:r>
          </a:p>
          <a:p>
            <a:pPr algn="ctr">
              <a:defRPr sz="1150" b="1">
                <a:solidFill>
                  <a:srgbClr val="0F172A"/>
                </a:solidFill>
                <a:latin typeface="Segoe UI"/>
              </a:defRPr>
            </a:pPr>
            <a:r>
              <a:t>HTML5 • CSS3 Modern • JavaScript ES6+ • Bootstrap 5</a:t>
            </a:r>
          </a:p>
        </p:txBody>
      </p:sp>
      <p:sp>
        <p:nvSpPr>
          <p:cNvPr id="7" name="Down Arrow 6"/>
          <p:cNvSpPr/>
          <p:nvPr/>
        </p:nvSpPr>
        <p:spPr>
          <a:xfrm>
            <a:off x="8641080" y="2788920"/>
            <a:ext cx="411480" cy="292608"/>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37960" y="3172968"/>
            <a:ext cx="4647895" cy="10972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Segoe UI"/>
              </a:defRPr>
            </a:pPr>
            <a:r>
              <a:t>BUSINESS LAYER (SPRING BOOT 3 REST API)</a:t>
            </a:r>
          </a:p>
          <a:p>
            <a:pPr algn="ctr">
              <a:defRPr sz="1100">
                <a:solidFill>
                  <a:srgbClr val="EEF2FF"/>
                </a:solidFill>
                <a:latin typeface="Segoe UI"/>
              </a:defRPr>
            </a:pPr>
            <a:r>
              <a:t>Spring Security 6 (JWT) • Spring Data JPA • 9 Modules Core</a:t>
            </a:r>
            <a:br/>
            <a:r>
              <a:t>ApiResponse&lt;T&gt; • GlobalExceptionHandler • Pessimistic Lock</a:t>
            </a:r>
          </a:p>
        </p:txBody>
      </p:sp>
      <p:sp>
        <p:nvSpPr>
          <p:cNvPr id="9" name="Down Arrow 8"/>
          <p:cNvSpPr/>
          <p:nvPr/>
        </p:nvSpPr>
        <p:spPr>
          <a:xfrm>
            <a:off x="8641080" y="4361688"/>
            <a:ext cx="411480" cy="292608"/>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4736592"/>
            <a:ext cx="1490472"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000" b="1">
                <a:solidFill>
                  <a:srgbClr val="1E3A8A"/>
                </a:solidFill>
                <a:latin typeface="Segoe UI"/>
              </a:defRPr>
            </a:pPr>
            <a:r>
              <a:t>POSTGRESQL 16</a:t>
            </a:r>
          </a:p>
          <a:p>
            <a:pPr algn="ctr">
              <a:defRPr sz="950">
                <a:solidFill>
                  <a:srgbClr val="475569"/>
                </a:solidFill>
                <a:latin typeface="Segoe UI"/>
              </a:defRPr>
            </a:pPr>
            <a:r>
              <a:t>Docker (Port 5432)</a:t>
            </a:r>
            <a:br/>
            <a:r>
              <a:t>15 Tables • 3NF</a:t>
            </a:r>
          </a:p>
        </p:txBody>
      </p:sp>
      <p:sp>
        <p:nvSpPr>
          <p:cNvPr id="11" name="Rounded Rectangle 10"/>
          <p:cNvSpPr/>
          <p:nvPr/>
        </p:nvSpPr>
        <p:spPr>
          <a:xfrm>
            <a:off x="8119872" y="4736592"/>
            <a:ext cx="1490472"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000" b="1">
                <a:solidFill>
                  <a:srgbClr val="1E3A8A"/>
                </a:solidFill>
                <a:latin typeface="Segoe UI"/>
              </a:defRPr>
            </a:pPr>
            <a:r>
              <a:t>CLOUDINARY CDN</a:t>
            </a:r>
          </a:p>
          <a:p>
            <a:pPr algn="ctr">
              <a:defRPr sz="950">
                <a:solidFill>
                  <a:srgbClr val="475569"/>
                </a:solidFill>
                <a:latin typeface="Segoe UI"/>
              </a:defRPr>
            </a:pPr>
            <a:r>
              <a:t>Lưu trữ hình ảnh xe</a:t>
            </a:r>
            <a:br/>
            <a:r>
              <a:t>Biên bản ODO 6 góc</a:t>
            </a:r>
          </a:p>
        </p:txBody>
      </p:sp>
      <p:sp>
        <p:nvSpPr>
          <p:cNvPr id="12" name="Rounded Rectangle 11"/>
          <p:cNvSpPr/>
          <p:nvPr/>
        </p:nvSpPr>
        <p:spPr>
          <a:xfrm>
            <a:off x="9701784" y="4736592"/>
            <a:ext cx="1490472"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000" b="1">
                <a:solidFill>
                  <a:srgbClr val="1E3A8A"/>
                </a:solidFill>
                <a:latin typeface="Segoe UI"/>
              </a:defRPr>
            </a:pPr>
            <a:r>
              <a:t>GEMINI AI FLASH</a:t>
            </a:r>
          </a:p>
          <a:p>
            <a:pPr algn="ctr">
              <a:defRPr sz="950">
                <a:solidFill>
                  <a:srgbClr val="475569"/>
                </a:solidFill>
                <a:latin typeface="Segoe UI"/>
              </a:defRPr>
            </a:pPr>
            <a:r>
              <a:t>Tư vấn chọn xe 24/7</a:t>
            </a:r>
            <a:br/>
            <a:r>
              <a:t>Lưu vết chat_memory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2.2  Thiết Kế Chức Năng Hệ Thống (Biểu Đồ Use Case)</a:t>
            </a:r>
          </a:p>
          <a:p>
            <a:pPr>
              <a:spcBef>
                <a:spcPts val="400"/>
              </a:spcBef>
              <a:defRPr sz="1300">
                <a:solidFill>
                  <a:srgbClr val="475569"/>
                </a:solidFill>
                <a:latin typeface="Segoe UI"/>
              </a:defRPr>
            </a:pPr>
            <a:r>
              <a:t>&gt; Biểu đồ Use Case đặt xe &amp; vận hành thể hiện mối liên kết giữa Khách thuê, Chủ xe và Cổng VietQR:</a:t>
            </a:r>
          </a:p>
        </p:txBody>
      </p:sp>
      <p:sp>
        <p:nvSpPr>
          <p:cNvPr id="4" name="Rounded Rectangle 3"/>
          <p:cNvSpPr/>
          <p:nvPr/>
        </p:nvSpPr>
        <p:spPr>
          <a:xfrm>
            <a:off x="731520" y="1508760"/>
            <a:ext cx="10728655" cy="4526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ecase_booking_operation.png"/>
          <p:cNvPicPr>
            <a:picLocks noChangeAspect="1"/>
          </p:cNvPicPr>
          <p:nvPr/>
        </p:nvPicPr>
        <p:blipFill>
          <a:blip r:embed="rId2"/>
          <a:stretch>
            <a:fillRect/>
          </a:stretch>
        </p:blipFill>
        <p:spPr>
          <a:xfrm>
            <a:off x="4391538" y="1691640"/>
            <a:ext cx="3408618" cy="4160520"/>
          </a:xfrm>
          <a:prstGeom prst="rect">
            <a:avLst/>
          </a:prstGeom>
        </p:spPr>
      </p:pic>
      <p:sp>
        <p:nvSpPr>
          <p:cNvPr id="6" name="TextBox 5"/>
          <p:cNvSpPr txBox="1"/>
          <p:nvPr/>
        </p:nvSpPr>
        <p:spPr>
          <a:xfrm>
            <a:off x="731520" y="6172200"/>
            <a:ext cx="10728655" cy="365760"/>
          </a:xfrm>
          <a:prstGeom prst="rect">
            <a:avLst/>
          </a:prstGeom>
          <a:noFill/>
        </p:spPr>
        <p:txBody>
          <a:bodyPr wrap="none">
            <a:spAutoFit/>
          </a:bodyPr>
          <a:lstStyle/>
          <a:p>
            <a:pPr algn="ctr">
              <a:defRPr sz="1200" i="1">
                <a:solidFill>
                  <a:srgbClr val="475569"/>
                </a:solidFill>
                <a:latin typeface="Segoe UI"/>
              </a:defRPr>
            </a:pPr>
            <a:r>
              <a:t>Hình 2.2 Biểu đồ Use Case quy trình đặt xe và vận hành (Booking &amp; Operation) — Hệ thống DriveShare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2.3  Thiết Kế Cơ Sở Dữ Liệu Phía Server</a:t>
            </a:r>
          </a:p>
          <a:p>
            <a:pPr>
              <a:spcBef>
                <a:spcPts val="400"/>
              </a:spcBef>
              <a:defRPr sz="1300">
                <a:solidFill>
                  <a:srgbClr val="475569"/>
                </a:solidFill>
                <a:latin typeface="Segoe UI"/>
              </a:defRPr>
            </a:pPr>
            <a:r>
              <a:t>&gt; Xây dựng cơ sở dữ liệu sử dụng PostgreSQL 16 (15 bảng chuẩn 3NF):</a:t>
            </a:r>
          </a:p>
        </p:txBody>
      </p:sp>
      <p:sp>
        <p:nvSpPr>
          <p:cNvPr id="4" name="Rounded Rectangle 3"/>
          <p:cNvSpPr/>
          <p:nvPr/>
        </p:nvSpPr>
        <p:spPr>
          <a:xfrm>
            <a:off x="731520" y="1508760"/>
            <a:ext cx="10728655" cy="4526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re_database_tables.png"/>
          <p:cNvPicPr>
            <a:picLocks noChangeAspect="1"/>
          </p:cNvPicPr>
          <p:nvPr/>
        </p:nvPicPr>
        <p:blipFill>
          <a:blip r:embed="rId2"/>
          <a:stretch>
            <a:fillRect/>
          </a:stretch>
        </p:blipFill>
        <p:spPr>
          <a:xfrm>
            <a:off x="1415262" y="1691640"/>
            <a:ext cx="9361170" cy="4160520"/>
          </a:xfrm>
          <a:prstGeom prst="rect">
            <a:avLst/>
          </a:prstGeom>
        </p:spPr>
      </p:pic>
      <p:sp>
        <p:nvSpPr>
          <p:cNvPr id="6" name="TextBox 5"/>
          <p:cNvSpPr txBox="1"/>
          <p:nvPr/>
        </p:nvSpPr>
        <p:spPr>
          <a:xfrm>
            <a:off x="731520" y="6172200"/>
            <a:ext cx="10728655" cy="365760"/>
          </a:xfrm>
          <a:prstGeom prst="rect">
            <a:avLst/>
          </a:prstGeom>
          <a:noFill/>
        </p:spPr>
        <p:txBody>
          <a:bodyPr wrap="none">
            <a:spAutoFit/>
          </a:bodyPr>
          <a:lstStyle/>
          <a:p>
            <a:pPr algn="ctr">
              <a:defRPr sz="1200" i="1">
                <a:solidFill>
                  <a:srgbClr val="475569"/>
                </a:solidFill>
                <a:latin typeface="Segoe UI"/>
              </a:defRPr>
            </a:pPr>
            <a:r>
              <a:t>Hình 2.3 Cấu trúc các bảng dữ liệu hạt nhân trong hệ thống CSDL DriveShare (users, cars, rentals, payments)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2.4  Vòng Đời Đơn Thuê &amp; Ký Quỹ VietQR (State Machine)</a:t>
            </a:r>
          </a:p>
          <a:p>
            <a:pPr>
              <a:spcBef>
                <a:spcPts val="400"/>
              </a:spcBef>
              <a:defRPr sz="1300">
                <a:solidFill>
                  <a:srgbClr val="475569"/>
                </a:solidFill>
                <a:latin typeface="Segoe UI"/>
              </a:defRPr>
            </a:pPr>
            <a:r>
              <a:t>&gt; Chu trình điều khiển trạng thái tự động loại bỏ lỗi Overbooking và bảo vệ dòng tiền cọc:</a:t>
            </a:r>
          </a:p>
        </p:txBody>
      </p:sp>
      <p:sp>
        <p:nvSpPr>
          <p:cNvPr id="4" name="Rounded Rectangle 3"/>
          <p:cNvSpPr/>
          <p:nvPr/>
        </p:nvSpPr>
        <p:spPr>
          <a:xfrm>
            <a:off x="731520" y="1508760"/>
            <a:ext cx="10728655" cy="4526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etQR Rental Booking Lifecycle-2026-10-28-150558.png"/>
          <p:cNvPicPr>
            <a:picLocks noChangeAspect="1"/>
          </p:cNvPicPr>
          <p:nvPr/>
        </p:nvPicPr>
        <p:blipFill>
          <a:blip r:embed="rId2"/>
          <a:stretch>
            <a:fillRect/>
          </a:stretch>
        </p:blipFill>
        <p:spPr>
          <a:xfrm>
            <a:off x="3857986" y="1691640"/>
            <a:ext cx="4475721" cy="4160520"/>
          </a:xfrm>
          <a:prstGeom prst="rect">
            <a:avLst/>
          </a:prstGeom>
        </p:spPr>
      </p:pic>
      <p:sp>
        <p:nvSpPr>
          <p:cNvPr id="6" name="TextBox 5"/>
          <p:cNvSpPr txBox="1"/>
          <p:nvPr/>
        </p:nvSpPr>
        <p:spPr>
          <a:xfrm>
            <a:off x="731520" y="6172200"/>
            <a:ext cx="10728655" cy="365760"/>
          </a:xfrm>
          <a:prstGeom prst="rect">
            <a:avLst/>
          </a:prstGeom>
          <a:noFill/>
        </p:spPr>
        <p:txBody>
          <a:bodyPr wrap="none">
            <a:spAutoFit/>
          </a:bodyPr>
          <a:lstStyle/>
          <a:p>
            <a:pPr algn="ctr">
              <a:defRPr sz="1200" i="1">
                <a:solidFill>
                  <a:srgbClr val="475569"/>
                </a:solidFill>
                <a:latin typeface="Segoe UI"/>
              </a:defRPr>
            </a:pPr>
            <a:r>
              <a:t>Hình 2.4 Máy trạng thái điều khiển vòng đời đơn thuê và ký quỹ cọc VietQR 30% — DriveShare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2.5  Điểm Sáng Kỹ Thuật: Khóa Bi Quan PESSIMISTIC_WRITE</a:t>
            </a:r>
          </a:p>
          <a:p>
            <a:pPr>
              <a:spcBef>
                <a:spcPts val="400"/>
              </a:spcBef>
              <a:defRPr sz="1300">
                <a:solidFill>
                  <a:srgbClr val="475569"/>
                </a:solidFill>
                <a:latin typeface="Segoe UI"/>
              </a:defRPr>
            </a:pPr>
            <a:r>
              <a:t>&gt; Cơ chế chống xung đột đồng thời (Race Condition) triệt để ở tầng CSDL:</a:t>
            </a:r>
          </a:p>
        </p:txBody>
      </p:sp>
      <p:sp>
        <p:nvSpPr>
          <p:cNvPr id="4" name="Rounded Rectangle 3"/>
          <p:cNvSpPr/>
          <p:nvPr/>
        </p:nvSpPr>
        <p:spPr>
          <a:xfrm>
            <a:off x="731520" y="1600200"/>
            <a:ext cx="53035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1400"/>
              </a:spcAft>
              <a:defRPr sz="1600" b="1">
                <a:solidFill>
                  <a:srgbClr val="1E3A8A"/>
                </a:solidFill>
                <a:latin typeface="Segoe UI"/>
              </a:defRPr>
            </a:pPr>
            <a:r>
              <a:t>GIẢI PHÁP CHỐNG XUNG ĐỘT ĐỒNG THỜI</a:t>
            </a:r>
          </a:p>
          <a:p>
            <a:pPr>
              <a:spcAft>
                <a:spcPts val="900"/>
              </a:spcAft>
              <a:defRPr sz="1300">
                <a:solidFill>
                  <a:srgbClr val="0F172A"/>
                </a:solidFill>
                <a:latin typeface="Segoe UI"/>
              </a:defRPr>
            </a:pPr>
            <a:r>
              <a:t>•  Vấn đề Race Condition: Nhiều luồng cùng duyệt giữ xe hoặc cùng hoàn cọc gây lỗi trùng lặp.</a:t>
            </a:r>
          </a:p>
          <a:p>
            <a:pPr>
              <a:spcAft>
                <a:spcPts val="900"/>
              </a:spcAft>
              <a:defRPr sz="1300">
                <a:solidFill>
                  <a:srgbClr val="0F172A"/>
                </a:solidFill>
                <a:latin typeface="Segoe UI"/>
              </a:defRPr>
            </a:pPr>
            <a:r>
              <a:t>•  Giải pháp trong code: Áp dụng @Lock(LockModeType.PESSIMISTIC_WRITE) tại CarRepository.</a:t>
            </a:r>
          </a:p>
          <a:p>
            <a:pPr>
              <a:spcAft>
                <a:spcPts val="900"/>
              </a:spcAft>
              <a:defRPr sz="1300">
                <a:solidFill>
                  <a:srgbClr val="0F172A"/>
                </a:solidFill>
                <a:latin typeface="Segoe UI"/>
              </a:defRPr>
            </a:pPr>
            <a:r>
              <a:t>•  Cơ chế SQL: Phát sinh lệnh SELECT ... FOR UPDATE khóa độc quyền bản ghi ở tầng CSDL.</a:t>
            </a:r>
          </a:p>
          <a:p>
            <a:pPr>
              <a:spcAft>
                <a:spcPts val="900"/>
              </a:spcAft>
              <a:defRPr sz="1300">
                <a:solidFill>
                  <a:srgbClr val="0F172A"/>
                </a:solidFill>
                <a:latin typeface="Segoe UI"/>
              </a:defRPr>
            </a:pPr>
            <a:r>
              <a:t>•  An toàn tuyệt đối: Giữ khóa cho đến khi commit transaction; loại bỏ 100% nguy cơ Overbooking.</a:t>
            </a:r>
          </a:p>
          <a:p>
            <a:pPr>
              <a:spcAft>
                <a:spcPts val="900"/>
              </a:spcAft>
              <a:defRPr sz="1300">
                <a:solidFill>
                  <a:srgbClr val="0F172A"/>
                </a:solidFill>
                <a:latin typeface="Segoe UI"/>
              </a:defRPr>
            </a:pPr>
            <a:r>
              <a:t>•  Hoàn cọc Idempotent: Khóa bản ghi khiếu nại tại RentalDisputeRepository chống hoàn tiền 2 lần.</a:t>
            </a:r>
          </a:p>
        </p:txBody>
      </p:sp>
      <p:sp>
        <p:nvSpPr>
          <p:cNvPr id="5" name="Rounded Rectangle 4"/>
          <p:cNvSpPr/>
          <p:nvPr/>
        </p:nvSpPr>
        <p:spPr>
          <a:xfrm>
            <a:off x="6263640" y="1600200"/>
            <a:ext cx="5196535" cy="4663440"/>
          </a:xfrm>
          <a:prstGeom prst="roundRect">
            <a:avLst/>
          </a:prstGeom>
          <a:solidFill>
            <a:srgbClr val="0F172A"/>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a:solidFill>
                  <a:srgbClr val="475569"/>
                </a:solidFill>
                <a:latin typeface="Consolas"/>
              </a:defRPr>
            </a:pPr>
            <a:r>
              <a:t>// CarRepository.java (Spring Data JPA)</a:t>
            </a:r>
          </a:p>
          <a:p>
            <a:pPr>
              <a:spcAft>
                <a:spcPts val="200"/>
              </a:spcAft>
              <a:defRPr sz="1300" b="1">
                <a:solidFill>
                  <a:srgbClr val="FACC15"/>
                </a:solidFill>
                <a:latin typeface="Consolas"/>
              </a:defRPr>
            </a:pPr>
            <a:r>
              <a:t>@Lock(LockModeType.PESSIMISTIC_WRITE)</a:t>
            </a:r>
          </a:p>
          <a:p>
            <a:pPr>
              <a:spcAft>
                <a:spcPts val="200"/>
              </a:spcAft>
              <a:defRPr sz="1200">
                <a:solidFill>
                  <a:srgbClr val="4ADE80"/>
                </a:solidFill>
                <a:latin typeface="Consolas"/>
              </a:defRPr>
            </a:pPr>
            <a:r>
              <a:t>@Query("SELECT c FROM Car c WHERE c.id = :id")</a:t>
            </a:r>
          </a:p>
          <a:p>
            <a:pPr>
              <a:spcAft>
                <a:spcPts val="1600"/>
              </a:spcAft>
              <a:defRPr sz="1250">
                <a:solidFill>
                  <a:srgbClr val="FFFFFF"/>
                </a:solidFill>
                <a:latin typeface="Consolas"/>
              </a:defRPr>
            </a:pPr>
            <a:r>
              <a:t>Optional&lt;Car&gt; findCarForUpdate(@Param("id") Long id);</a:t>
            </a:r>
          </a:p>
          <a:p>
            <a:pPr>
              <a:spcAft>
                <a:spcPts val="400"/>
              </a:spcAft>
              <a:defRPr sz="1150">
                <a:solidFill>
                  <a:srgbClr val="475569"/>
                </a:solidFill>
                <a:latin typeface="Consolas"/>
              </a:defRPr>
            </a:pPr>
            <a:r>
              <a:t>-- SQL Generated by Hibernate (PostgreSQL 16):</a:t>
            </a:r>
          </a:p>
          <a:p>
            <a:pPr>
              <a:spcAft>
                <a:spcPts val="1600"/>
              </a:spcAft>
              <a:defRPr sz="1200" b="1">
                <a:solidFill>
                  <a:srgbClr val="FACC15"/>
                </a:solidFill>
                <a:latin typeface="Consolas"/>
              </a:defRPr>
            </a:pPr>
            <a:r>
              <a:t>SELECT c1_0.id, c1_0.license_plate, c1_0.price</a:t>
            </a:r>
            <a:br/>
            <a:r>
              <a:t>FROM cars c1_0</a:t>
            </a:r>
            <a:br/>
            <a:r>
              <a:t>WHERE c1_0.id = ?</a:t>
            </a:r>
            <a:br/>
            <a:r>
              <a:t>FOR UPDATE;</a:t>
            </a:r>
          </a:p>
          <a:p>
            <a:pPr>
              <a:defRPr sz="1200">
                <a:solidFill>
                  <a:srgbClr val="4ADE80"/>
                </a:solidFill>
                <a:latin typeface="Segoe UI"/>
              </a:defRPr>
            </a:pPr>
            <a:r>
              <a:t>=&gt; Khóa độc quyền hàng dữ liệu ngay lập tức.</a:t>
            </a:r>
            <a:br/>
            <a:r>
              <a:t>=&gt; Luồng thứ 2 phải xếp hàng chờ cho đến khi commit.</a:t>
            </a:r>
            <a:br/>
            <a:r>
              <a:t>=&gt; Triệt tiêu 100% rủi ro Overbooking!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2.6  Điểm Sáng Kỹ Thuật: Cơ Chế Khóa 2 Tầng (Two-Tier Locking)</a:t>
            </a:r>
          </a:p>
          <a:p>
            <a:pPr>
              <a:spcBef>
                <a:spcPts val="400"/>
              </a:spcBef>
              <a:defRPr sz="1300">
                <a:solidFill>
                  <a:srgbClr val="475569"/>
                </a:solidFill>
                <a:latin typeface="Segoe UI"/>
              </a:defRPr>
            </a:pPr>
            <a:r>
              <a:t>&gt; Sơ đồ tuần tự quy trình đặt xe, ký quỹ cọc 30% VietQR và tự động phục hồi đơn chờ:</a:t>
            </a:r>
          </a:p>
        </p:txBody>
      </p:sp>
      <p:sp>
        <p:nvSpPr>
          <p:cNvPr id="4" name="Rounded Rectangle 3"/>
          <p:cNvSpPr/>
          <p:nvPr/>
        </p:nvSpPr>
        <p:spPr>
          <a:xfrm>
            <a:off x="731520" y="1508760"/>
            <a:ext cx="10728655" cy="4526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_sequence_booking_and_deposit.png"/>
          <p:cNvPicPr>
            <a:picLocks noChangeAspect="1"/>
          </p:cNvPicPr>
          <p:nvPr/>
        </p:nvPicPr>
        <p:blipFill>
          <a:blip r:embed="rId2"/>
          <a:stretch>
            <a:fillRect/>
          </a:stretch>
        </p:blipFill>
        <p:spPr>
          <a:xfrm>
            <a:off x="4433569" y="1691640"/>
            <a:ext cx="3324556" cy="4160520"/>
          </a:xfrm>
          <a:prstGeom prst="rect">
            <a:avLst/>
          </a:prstGeom>
        </p:spPr>
      </p:pic>
      <p:sp>
        <p:nvSpPr>
          <p:cNvPr id="6" name="TextBox 5"/>
          <p:cNvSpPr txBox="1"/>
          <p:nvPr/>
        </p:nvSpPr>
        <p:spPr>
          <a:xfrm>
            <a:off x="731520" y="6172200"/>
            <a:ext cx="10728655" cy="365760"/>
          </a:xfrm>
          <a:prstGeom prst="rect">
            <a:avLst/>
          </a:prstGeom>
          <a:noFill/>
        </p:spPr>
        <p:txBody>
          <a:bodyPr wrap="none">
            <a:spAutoFit/>
          </a:bodyPr>
          <a:lstStyle/>
          <a:p>
            <a:pPr algn="ctr">
              <a:defRPr sz="1200" i="1">
                <a:solidFill>
                  <a:srgbClr val="475569"/>
                </a:solidFill>
                <a:latin typeface="Segoe UI"/>
              </a:defRPr>
            </a:pPr>
            <a:r>
              <a:t>Hình 2.6 Sơ đồ tuần tự quy trình đặt xe và khóa 2 tầng (Soft Lock 45m &amp; Hard Lock Ký Quỹ) — DriveShare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2.7  Điểm Sáng Kỹ Thuật: Bảo Mật JWT &amp; AI Hybrid Chịu Lỗi</a:t>
            </a:r>
          </a:p>
          <a:p>
            <a:pPr>
              <a:spcBef>
                <a:spcPts val="400"/>
              </a:spcBef>
              <a:defRPr sz="1300">
                <a:solidFill>
                  <a:srgbClr val="475569"/>
                </a:solidFill>
                <a:latin typeface="Segoe UI"/>
              </a:defRPr>
            </a:pPr>
            <a:r>
              <a:t>&gt; Cơ chế bảo mật phiên Stateless và phân hệ AI hoạt động tin cậy cả Online lẫn Offline:</a:t>
            </a:r>
          </a:p>
        </p:txBody>
      </p:sp>
      <p:sp>
        <p:nvSpPr>
          <p:cNvPr id="4" name="Rounded Rectangle 3"/>
          <p:cNvSpPr/>
          <p:nvPr/>
        </p:nvSpPr>
        <p:spPr>
          <a:xfrm>
            <a:off x="731520" y="1600200"/>
            <a:ext cx="53035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1400"/>
              </a:spcAft>
              <a:defRPr sz="1600" b="1">
                <a:solidFill>
                  <a:srgbClr val="1E3A8A"/>
                </a:solidFill>
                <a:latin typeface="Segoe UI"/>
              </a:defRPr>
            </a:pPr>
            <a:r>
              <a:t>AN TOÀN BẢO MẬT &amp; FAULT-TOLERANCE</a:t>
            </a:r>
          </a:p>
          <a:p>
            <a:pPr>
              <a:spcAft>
                <a:spcPts val="900"/>
              </a:spcAft>
              <a:defRPr sz="1300">
                <a:solidFill>
                  <a:srgbClr val="0F172A"/>
                </a:solidFill>
                <a:latin typeface="Segoe UI"/>
              </a:defRPr>
            </a:pPr>
            <a:r>
              <a:t>•  Stateless JWT: Dùng jjwt 0.12.6, mã hóa mật khẩu BCrypt, phân quyền phương thức RBAC.</a:t>
            </a:r>
          </a:p>
          <a:p>
            <a:pPr>
              <a:spcAft>
                <a:spcPts val="900"/>
              </a:spcAft>
              <a:defRPr sz="1300">
                <a:solidFill>
                  <a:srgbClr val="0F172A"/>
                </a:solidFill>
                <a:latin typeface="Segoe UI"/>
              </a:defRPr>
            </a:pPr>
            <a:r>
              <a:t>•  Token Versioning: Trường token_version giúp thu hồi token tức thì ngay khi đổi mật khẩu.</a:t>
            </a:r>
          </a:p>
          <a:p>
            <a:pPr>
              <a:spcAft>
                <a:spcPts val="900"/>
              </a:spcAft>
              <a:defRPr sz="1300">
                <a:solidFill>
                  <a:srgbClr val="0F172A"/>
                </a:solidFill>
                <a:latin typeface="Segoe UI"/>
              </a:defRPr>
            </a:pPr>
            <a:r>
              <a:t>•  Chống Brute-force: Tự động khóa tài khoản locked_until sau 5 lần nhập sai mật khẩu liên tiếp.</a:t>
            </a:r>
          </a:p>
          <a:p>
            <a:pPr>
              <a:spcAft>
                <a:spcPts val="900"/>
              </a:spcAft>
              <a:defRPr sz="1300">
                <a:solidFill>
                  <a:srgbClr val="0F172A"/>
                </a:solidFill>
                <a:latin typeface="Segoe UI"/>
              </a:defRPr>
            </a:pPr>
            <a:r>
              <a:t>•  Google Gemini 2.5 Flash: Kết nối REST API trực tiếp qua Java HttpClient kèm ngữ cảnh CSDL.</a:t>
            </a:r>
          </a:p>
          <a:p>
            <a:pPr>
              <a:spcAft>
                <a:spcPts val="900"/>
              </a:spcAft>
              <a:defRPr sz="1300">
                <a:solidFill>
                  <a:srgbClr val="0F172A"/>
                </a:solidFill>
                <a:latin typeface="Segoe UI"/>
              </a:defRPr>
            </a:pPr>
            <a:r>
              <a:t>•  Heuristic Regex Fallback: Tự động bóc tách ngày, giá, số chỗ khi mất mạng hoặc chưa có API Key.</a:t>
            </a:r>
          </a:p>
        </p:txBody>
      </p:sp>
      <p:sp>
        <p:nvSpPr>
          <p:cNvPr id="5" name="Rounded Rectangle 4"/>
          <p:cNvSpPr/>
          <p:nvPr/>
        </p:nvSpPr>
        <p:spPr>
          <a:xfrm>
            <a:off x="6263640" y="1600200"/>
            <a:ext cx="519653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ai_chatbot_dialog.png"/>
          <p:cNvPicPr>
            <a:picLocks noChangeAspect="1"/>
          </p:cNvPicPr>
          <p:nvPr/>
        </p:nvPicPr>
        <p:blipFill>
          <a:blip r:embed="rId2"/>
          <a:stretch>
            <a:fillRect/>
          </a:stretch>
        </p:blipFill>
        <p:spPr>
          <a:xfrm>
            <a:off x="6437376" y="2228135"/>
            <a:ext cx="4846320" cy="340756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3.1  Kết Quả Thực Nghiệm: Phân Hệ Khách Thuê (Renter)</a:t>
            </a:r>
          </a:p>
          <a:p>
            <a:pPr>
              <a:spcBef>
                <a:spcPts val="400"/>
              </a:spcBef>
              <a:defRPr sz="1300">
                <a:solidFill>
                  <a:srgbClr val="475569"/>
                </a:solidFill>
                <a:latin typeface="Segoe UI"/>
              </a:defRPr>
            </a:pPr>
            <a:r>
              <a:t>&gt; Giao diện Mobile Responsive trực quan, tối ưu hành trình trải nghiệm người dùng:</a:t>
            </a:r>
          </a:p>
        </p:txBody>
      </p:sp>
      <p:sp>
        <p:nvSpPr>
          <p:cNvPr id="4" name="Rounded Rectangle 3"/>
          <p:cNvSpPr/>
          <p:nvPr/>
        </p:nvSpPr>
        <p:spPr>
          <a:xfrm>
            <a:off x="73152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obile_renter_search.png"/>
          <p:cNvPicPr>
            <a:picLocks noChangeAspect="1"/>
          </p:cNvPicPr>
          <p:nvPr/>
        </p:nvPicPr>
        <p:blipFill>
          <a:blip r:embed="rId2"/>
          <a:stretch>
            <a:fillRect/>
          </a:stretch>
        </p:blipFill>
        <p:spPr>
          <a:xfrm>
            <a:off x="1609788" y="1618488"/>
            <a:ext cx="1626743" cy="3520440"/>
          </a:xfrm>
          <a:prstGeom prst="rect">
            <a:avLst/>
          </a:prstGeom>
        </p:spPr>
      </p:pic>
      <p:sp>
        <p:nvSpPr>
          <p:cNvPr id="6" name="TextBox 5"/>
          <p:cNvSpPr txBox="1"/>
          <p:nvPr/>
        </p:nvSpPr>
        <p:spPr>
          <a:xfrm>
            <a:off x="82296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1. Tìm Xe &amp; Bộ Lọc</a:t>
            </a:r>
          </a:p>
          <a:p>
            <a:pPr algn="ctr">
              <a:defRPr sz="1100">
                <a:solidFill>
                  <a:srgbClr val="475569"/>
                </a:solidFill>
                <a:latin typeface="Segoe UI"/>
              </a:defRPr>
            </a:pPr>
            <a:r>
              <a:t>Lọc theo Tỉnh, ngày thuê, khoảng giá và số chỗ</a:t>
            </a:r>
          </a:p>
        </p:txBody>
      </p:sp>
      <p:sp>
        <p:nvSpPr>
          <p:cNvPr id="7" name="Rounded Rectangle 6"/>
          <p:cNvSpPr/>
          <p:nvPr/>
        </p:nvSpPr>
        <p:spPr>
          <a:xfrm>
            <a:off x="440375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bile_renter_vietqr.png"/>
          <p:cNvPicPr>
            <a:picLocks noChangeAspect="1"/>
          </p:cNvPicPr>
          <p:nvPr/>
        </p:nvPicPr>
        <p:blipFill>
          <a:blip r:embed="rId3"/>
          <a:stretch>
            <a:fillRect/>
          </a:stretch>
        </p:blipFill>
        <p:spPr>
          <a:xfrm>
            <a:off x="5215280" y="1618488"/>
            <a:ext cx="1760220" cy="3520440"/>
          </a:xfrm>
          <a:prstGeom prst="rect">
            <a:avLst/>
          </a:prstGeom>
        </p:spPr>
      </p:pic>
      <p:sp>
        <p:nvSpPr>
          <p:cNvPr id="9" name="TextBox 8"/>
          <p:cNvSpPr txBox="1"/>
          <p:nvPr/>
        </p:nvSpPr>
        <p:spPr>
          <a:xfrm>
            <a:off x="449519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2. Ký Quỹ Cọc 30% VietQR</a:t>
            </a:r>
          </a:p>
          <a:p>
            <a:pPr algn="ctr">
              <a:defRPr sz="1100">
                <a:solidFill>
                  <a:srgbClr val="475569"/>
                </a:solidFill>
                <a:latin typeface="Segoe UI"/>
              </a:defRPr>
            </a:pPr>
            <a:r>
              <a:t>Tự sinh mã QR ngân hàng &amp; đếm ngược Soft Lock 45m</a:t>
            </a:r>
          </a:p>
        </p:txBody>
      </p:sp>
      <p:sp>
        <p:nvSpPr>
          <p:cNvPr id="10" name="Rounded Rectangle 9"/>
          <p:cNvSpPr/>
          <p:nvPr/>
        </p:nvSpPr>
        <p:spPr>
          <a:xfrm>
            <a:off x="807598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_mobile_375px_dispute_modal.png"/>
          <p:cNvPicPr>
            <a:picLocks noChangeAspect="1"/>
          </p:cNvPicPr>
          <p:nvPr/>
        </p:nvPicPr>
        <p:blipFill>
          <a:blip r:embed="rId4"/>
          <a:stretch>
            <a:fillRect/>
          </a:stretch>
        </p:blipFill>
        <p:spPr>
          <a:xfrm>
            <a:off x="8777991" y="1618488"/>
            <a:ext cx="1979257" cy="3520440"/>
          </a:xfrm>
          <a:prstGeom prst="rect">
            <a:avLst/>
          </a:prstGeom>
        </p:spPr>
      </p:pic>
      <p:sp>
        <p:nvSpPr>
          <p:cNvPr id="12" name="TextBox 11"/>
          <p:cNvSpPr txBox="1"/>
          <p:nvPr/>
        </p:nvSpPr>
        <p:spPr>
          <a:xfrm>
            <a:off x="816742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3. Khiếu Nại Sự Cố (Dispute)</a:t>
            </a:r>
          </a:p>
          <a:p>
            <a:pPr algn="ctr">
              <a:defRPr sz="1100">
                <a:solidFill>
                  <a:srgbClr val="475569"/>
                </a:solidFill>
                <a:latin typeface="Segoe UI"/>
              </a:defRPr>
            </a:pPr>
            <a:r>
              <a:t>Gửi video bằng chứng tại chỗ để hoàn 100% cọc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3.2  Kết Quả Thực Nghiệm: Phân Hệ Chủ Xe (Car Owner)</a:t>
            </a:r>
          </a:p>
          <a:p>
            <a:pPr>
              <a:spcBef>
                <a:spcPts val="400"/>
              </a:spcBef>
              <a:defRPr sz="1300">
                <a:solidFill>
                  <a:srgbClr val="475569"/>
                </a:solidFill>
                <a:latin typeface="Segoe UI"/>
              </a:defRPr>
            </a:pPr>
            <a:r>
              <a:t>&gt; Bộ công cụ số hóa toàn diện giúp chủ xe quản lý tài sản và tối ưu doanh thu:</a:t>
            </a:r>
          </a:p>
        </p:txBody>
      </p:sp>
      <p:sp>
        <p:nvSpPr>
          <p:cNvPr id="4" name="Rounded Rectangle 3"/>
          <p:cNvSpPr/>
          <p:nvPr/>
        </p:nvSpPr>
        <p:spPr>
          <a:xfrm>
            <a:off x="73152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_owner_cars_dashboard.png"/>
          <p:cNvPicPr>
            <a:picLocks noChangeAspect="1"/>
          </p:cNvPicPr>
          <p:nvPr/>
        </p:nvPicPr>
        <p:blipFill>
          <a:blip r:embed="rId2"/>
          <a:stretch>
            <a:fillRect/>
          </a:stretch>
        </p:blipFill>
        <p:spPr>
          <a:xfrm>
            <a:off x="841248" y="2266426"/>
            <a:ext cx="3163824" cy="2224563"/>
          </a:xfrm>
          <a:prstGeom prst="rect">
            <a:avLst/>
          </a:prstGeom>
        </p:spPr>
      </p:pic>
      <p:sp>
        <p:nvSpPr>
          <p:cNvPr id="6" name="TextBox 5"/>
          <p:cNvSpPr txBox="1"/>
          <p:nvPr/>
        </p:nvSpPr>
        <p:spPr>
          <a:xfrm>
            <a:off x="82296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1. Quản Lý Đội Xe</a:t>
            </a:r>
          </a:p>
          <a:p>
            <a:pPr algn="ctr">
              <a:defRPr sz="1100">
                <a:solidFill>
                  <a:srgbClr val="475569"/>
                </a:solidFill>
                <a:latin typeface="Segoe UI"/>
              </a:defRPr>
            </a:pPr>
            <a:r>
              <a:t>Bật/Tắt trạng thái hoạt động &amp; cập nhật giá thuê</a:t>
            </a:r>
          </a:p>
        </p:txBody>
      </p:sp>
      <p:sp>
        <p:nvSpPr>
          <p:cNvPr id="7" name="Rounded Rectangle 6"/>
          <p:cNvSpPr/>
          <p:nvPr/>
        </p:nvSpPr>
        <p:spPr>
          <a:xfrm>
            <a:off x="440375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oof_03_vi_two_way_inspection_modal_ui.png"/>
          <p:cNvPicPr>
            <a:picLocks noChangeAspect="1"/>
          </p:cNvPicPr>
          <p:nvPr/>
        </p:nvPicPr>
        <p:blipFill>
          <a:blip r:embed="rId3"/>
          <a:stretch>
            <a:fillRect/>
          </a:stretch>
        </p:blipFill>
        <p:spPr>
          <a:xfrm>
            <a:off x="4513478" y="2266426"/>
            <a:ext cx="3163824" cy="2224563"/>
          </a:xfrm>
          <a:prstGeom prst="rect">
            <a:avLst/>
          </a:prstGeom>
        </p:spPr>
      </p:pic>
      <p:sp>
        <p:nvSpPr>
          <p:cNvPr id="9" name="TextBox 8"/>
          <p:cNvSpPr txBox="1"/>
          <p:nvPr/>
        </p:nvSpPr>
        <p:spPr>
          <a:xfrm>
            <a:off x="449519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2. Biên Bản Bàn Giao 2 Chiều</a:t>
            </a:r>
          </a:p>
          <a:p>
            <a:pPr algn="ctr">
              <a:defRPr sz="1100">
                <a:solidFill>
                  <a:srgbClr val="475569"/>
                </a:solidFill>
                <a:latin typeface="Segoe UI"/>
              </a:defRPr>
            </a:pPr>
            <a:r>
              <a:t>Check-in/out ghi nhận ODO, vạch xăng &amp; 6 góc ảnh</a:t>
            </a:r>
          </a:p>
        </p:txBody>
      </p:sp>
      <p:sp>
        <p:nvSpPr>
          <p:cNvPr id="10" name="Rounded Rectangle 9"/>
          <p:cNvSpPr/>
          <p:nvPr/>
        </p:nvSpPr>
        <p:spPr>
          <a:xfrm>
            <a:off x="807598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4_owner_earnings_wallet.png"/>
          <p:cNvPicPr>
            <a:picLocks noChangeAspect="1"/>
          </p:cNvPicPr>
          <p:nvPr/>
        </p:nvPicPr>
        <p:blipFill>
          <a:blip r:embed="rId4"/>
          <a:stretch>
            <a:fillRect/>
          </a:stretch>
        </p:blipFill>
        <p:spPr>
          <a:xfrm>
            <a:off x="8185708" y="2266426"/>
            <a:ext cx="3163824" cy="2224563"/>
          </a:xfrm>
          <a:prstGeom prst="rect">
            <a:avLst/>
          </a:prstGeom>
        </p:spPr>
      </p:pic>
      <p:sp>
        <p:nvSpPr>
          <p:cNvPr id="12" name="TextBox 11"/>
          <p:cNvSpPr txBox="1"/>
          <p:nvPr/>
        </p:nvSpPr>
        <p:spPr>
          <a:xfrm>
            <a:off x="816742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3. Ví Doanh Thu Chủ Xe</a:t>
            </a:r>
          </a:p>
          <a:p>
            <a:pPr algn="ctr">
              <a:defRPr sz="1100">
                <a:solidFill>
                  <a:srgbClr val="475569"/>
                </a:solidFill>
                <a:latin typeface="Segoe UI"/>
              </a:defRPr>
            </a:pPr>
            <a:r>
              <a:t>Thống kê số dư khả dụng, nhận 90% doanh thu cuốc xe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3.3  Kết Quả Thực Nghiệm: Phân Hệ Quản Trị (Admin Portal)</a:t>
            </a:r>
          </a:p>
          <a:p>
            <a:pPr>
              <a:spcBef>
                <a:spcPts val="400"/>
              </a:spcBef>
              <a:defRPr sz="1300">
                <a:solidFill>
                  <a:srgbClr val="475569"/>
                </a:solidFill>
                <a:latin typeface="Segoe UI"/>
              </a:defRPr>
            </a:pPr>
            <a:r>
              <a:t>&gt; Trung tâm điều hành kiểm soát rủi ro, phân xử khiếu nại và bảo đảm an ninh pháp lý:</a:t>
            </a:r>
          </a:p>
        </p:txBody>
      </p:sp>
      <p:sp>
        <p:nvSpPr>
          <p:cNvPr id="4" name="Rounded Rectangle 3"/>
          <p:cNvSpPr/>
          <p:nvPr/>
        </p:nvSpPr>
        <p:spPr>
          <a:xfrm>
            <a:off x="73152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_admin_portal_overview.png"/>
          <p:cNvPicPr>
            <a:picLocks noChangeAspect="1"/>
          </p:cNvPicPr>
          <p:nvPr/>
        </p:nvPicPr>
        <p:blipFill>
          <a:blip r:embed="rId2"/>
          <a:stretch>
            <a:fillRect/>
          </a:stretch>
        </p:blipFill>
        <p:spPr>
          <a:xfrm>
            <a:off x="841248" y="2266426"/>
            <a:ext cx="3163824" cy="2224563"/>
          </a:xfrm>
          <a:prstGeom prst="rect">
            <a:avLst/>
          </a:prstGeom>
        </p:spPr>
      </p:pic>
      <p:sp>
        <p:nvSpPr>
          <p:cNvPr id="6" name="TextBox 5"/>
          <p:cNvSpPr txBox="1"/>
          <p:nvPr/>
        </p:nvSpPr>
        <p:spPr>
          <a:xfrm>
            <a:off x="82296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1. Dashboard Tổng Quan Sàn</a:t>
            </a:r>
          </a:p>
          <a:p>
            <a:pPr algn="ctr">
              <a:defRPr sz="1100">
                <a:solidFill>
                  <a:srgbClr val="475569"/>
                </a:solidFill>
                <a:latin typeface="Segoe UI"/>
              </a:defRPr>
            </a:pPr>
            <a:r>
              <a:t>Theo dõi thời gian thực số xe, thành viên &amp; dòng tiền cọc</a:t>
            </a:r>
          </a:p>
        </p:txBody>
      </p:sp>
      <p:sp>
        <p:nvSpPr>
          <p:cNvPr id="7" name="Rounded Rectangle 6"/>
          <p:cNvSpPr/>
          <p:nvPr/>
        </p:nvSpPr>
        <p:spPr>
          <a:xfrm>
            <a:off x="440375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_admin_dual_cards_cccd_and_bank.png"/>
          <p:cNvPicPr>
            <a:picLocks noChangeAspect="1"/>
          </p:cNvPicPr>
          <p:nvPr/>
        </p:nvPicPr>
        <p:blipFill>
          <a:blip r:embed="rId3"/>
          <a:stretch>
            <a:fillRect/>
          </a:stretch>
        </p:blipFill>
        <p:spPr>
          <a:xfrm>
            <a:off x="4513478" y="2266426"/>
            <a:ext cx="3163824" cy="2224563"/>
          </a:xfrm>
          <a:prstGeom prst="rect">
            <a:avLst/>
          </a:prstGeom>
        </p:spPr>
      </p:pic>
      <p:sp>
        <p:nvSpPr>
          <p:cNvPr id="9" name="TextBox 8"/>
          <p:cNvSpPr txBox="1"/>
          <p:nvPr/>
        </p:nvSpPr>
        <p:spPr>
          <a:xfrm>
            <a:off x="449519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2. Thẩm Định eKYC Giấy Tờ</a:t>
            </a:r>
          </a:p>
          <a:p>
            <a:pPr algn="ctr">
              <a:defRPr sz="1100">
                <a:solidFill>
                  <a:srgbClr val="475569"/>
                </a:solidFill>
                <a:latin typeface="Segoe UI"/>
              </a:defRPr>
            </a:pPr>
            <a:r>
              <a:t>Đối soát ảnh chụp CCCD, GPLX và tài khoản ngân hàng</a:t>
            </a:r>
          </a:p>
        </p:txBody>
      </p:sp>
      <p:sp>
        <p:nvSpPr>
          <p:cNvPr id="10" name="Rounded Rectangle 9"/>
          <p:cNvSpPr/>
          <p:nvPr/>
        </p:nvSpPr>
        <p:spPr>
          <a:xfrm>
            <a:off x="8075980" y="1508760"/>
            <a:ext cx="3383280" cy="4343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dispute_modal_open.png"/>
          <p:cNvPicPr>
            <a:picLocks noChangeAspect="1"/>
          </p:cNvPicPr>
          <p:nvPr/>
        </p:nvPicPr>
        <p:blipFill>
          <a:blip r:embed="rId4"/>
          <a:stretch>
            <a:fillRect/>
          </a:stretch>
        </p:blipFill>
        <p:spPr>
          <a:xfrm>
            <a:off x="8185708" y="2266426"/>
            <a:ext cx="3163824" cy="2224563"/>
          </a:xfrm>
          <a:prstGeom prst="rect">
            <a:avLst/>
          </a:prstGeom>
        </p:spPr>
      </p:pic>
      <p:sp>
        <p:nvSpPr>
          <p:cNvPr id="12" name="TextBox 11"/>
          <p:cNvSpPr txBox="1"/>
          <p:nvPr/>
        </p:nvSpPr>
        <p:spPr>
          <a:xfrm>
            <a:off x="8167420" y="5074920"/>
            <a:ext cx="3200400" cy="685800"/>
          </a:xfrm>
          <a:prstGeom prst="rect">
            <a:avLst/>
          </a:prstGeom>
          <a:noFill/>
        </p:spPr>
        <p:txBody>
          <a:bodyPr wrap="square" lIns="0" rIns="0" tIns="0" bIns="0">
            <a:spAutoFit/>
          </a:bodyPr>
          <a:lstStyle/>
          <a:p>
            <a:pPr algn="ctr">
              <a:defRPr sz="1250" b="1">
                <a:solidFill>
                  <a:srgbClr val="0F172A"/>
                </a:solidFill>
                <a:latin typeface="Segoe UI"/>
              </a:defRPr>
            </a:pPr>
            <a:r>
              <a:t>3. Dispute &amp; Chế Tài Điều 175</a:t>
            </a:r>
          </a:p>
          <a:p>
            <a:pPr algn="ctr">
              <a:defRPr sz="1100">
                <a:solidFill>
                  <a:srgbClr val="475569"/>
                </a:solidFill>
                <a:latin typeface="Segoe UI"/>
              </a:defRPr>
            </a:pPr>
            <a:r>
              <a:t>Phân xử hoàn 100% cọc &amp; xuất Hồ sơ vi phạm 1-click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3.4  Quy Trình Nghiệm Thu Xe 2 Chiều &amp; Hợp Đồng Điện Tử</a:t>
            </a:r>
          </a:p>
          <a:p>
            <a:pPr>
              <a:spcBef>
                <a:spcPts val="400"/>
              </a:spcBef>
              <a:defRPr sz="1300">
                <a:solidFill>
                  <a:srgbClr val="475569"/>
                </a:solidFill>
                <a:latin typeface="Segoe UI"/>
              </a:defRPr>
            </a:pPr>
            <a:r>
              <a:t>&gt; Sơ đồ tuần tự nghiệp vụ Check-in &amp; Check-out triệt tiêu hoàn toàn tranh chấp hư hỏng:</a:t>
            </a:r>
          </a:p>
        </p:txBody>
      </p:sp>
      <p:sp>
        <p:nvSpPr>
          <p:cNvPr id="4" name="Rounded Rectangle 3"/>
          <p:cNvSpPr/>
          <p:nvPr/>
        </p:nvSpPr>
        <p:spPr>
          <a:xfrm>
            <a:off x="731520" y="1508760"/>
            <a:ext cx="10728655" cy="4526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_sequence_two_way_handover.png"/>
          <p:cNvPicPr>
            <a:picLocks noChangeAspect="1"/>
          </p:cNvPicPr>
          <p:nvPr/>
        </p:nvPicPr>
        <p:blipFill>
          <a:blip r:embed="rId2"/>
          <a:stretch>
            <a:fillRect/>
          </a:stretch>
        </p:blipFill>
        <p:spPr>
          <a:xfrm>
            <a:off x="4015587" y="1691640"/>
            <a:ext cx="4160520" cy="4160520"/>
          </a:xfrm>
          <a:prstGeom prst="rect">
            <a:avLst/>
          </a:prstGeom>
        </p:spPr>
      </p:pic>
      <p:sp>
        <p:nvSpPr>
          <p:cNvPr id="6" name="TextBox 5"/>
          <p:cNvSpPr txBox="1"/>
          <p:nvPr/>
        </p:nvSpPr>
        <p:spPr>
          <a:xfrm>
            <a:off x="731520" y="6172200"/>
            <a:ext cx="10728655" cy="365760"/>
          </a:xfrm>
          <a:prstGeom prst="rect">
            <a:avLst/>
          </a:prstGeom>
          <a:noFill/>
        </p:spPr>
        <p:txBody>
          <a:bodyPr wrap="none">
            <a:spAutoFit/>
          </a:bodyPr>
          <a:lstStyle/>
          <a:p>
            <a:pPr algn="ctr">
              <a:defRPr sz="1200" i="1">
                <a:solidFill>
                  <a:srgbClr val="475569"/>
                </a:solidFill>
                <a:latin typeface="Segoe UI"/>
              </a:defRPr>
            </a:pPr>
            <a:r>
              <a:t>Hình 3.4 Sơ đồ tuần tự quy trình bàn giao xe hai chiều (Check-in &amp; Check-out) — DriveShare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3.5  Chiến Lược Kiểm Thử Tự Động Toàn Diện (188 Tests)</a:t>
            </a:r>
          </a:p>
          <a:p>
            <a:pPr>
              <a:spcBef>
                <a:spcPts val="400"/>
              </a:spcBef>
              <a:defRPr sz="1300">
                <a:solidFill>
                  <a:srgbClr val="475569"/>
                </a:solidFill>
                <a:latin typeface="Segoe UI"/>
              </a:defRPr>
            </a:pPr>
            <a:r>
              <a:t>&gt; Đảm bảo chất lượng phần mềm và độ chịu tải đồng thời trước khi bàn giao:</a:t>
            </a:r>
          </a:p>
        </p:txBody>
      </p:sp>
      <p:sp>
        <p:nvSpPr>
          <p:cNvPr id="4" name="Rounded Rectangle 3"/>
          <p:cNvSpPr/>
          <p:nvPr/>
        </p:nvSpPr>
        <p:spPr>
          <a:xfrm>
            <a:off x="731520" y="1600200"/>
            <a:ext cx="53035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1400"/>
              </a:spcAft>
              <a:defRPr sz="1600" b="1">
                <a:solidFill>
                  <a:srgbClr val="1E3A8A"/>
                </a:solidFill>
                <a:latin typeface="Segoe UI"/>
              </a:defRPr>
            </a:pPr>
            <a:r>
              <a:t>CHẤT LƯỢNG PHẦN MỀM</a:t>
            </a:r>
          </a:p>
          <a:p>
            <a:pPr>
              <a:spcAft>
                <a:spcPts val="900"/>
              </a:spcAft>
              <a:defRPr sz="1300">
                <a:solidFill>
                  <a:srgbClr val="0F172A"/>
                </a:solidFill>
                <a:latin typeface="Segoe UI"/>
              </a:defRPr>
            </a:pPr>
            <a:r>
              <a:t>•  188 bài test tự động: Đạt tỷ lệ PASS 100% (Unit Test, Integration Test, Concurrency Test).</a:t>
            </a:r>
          </a:p>
          <a:p>
            <a:pPr>
              <a:spcAft>
                <a:spcPts val="900"/>
              </a:spcAft>
              <a:defRPr sz="1300">
                <a:solidFill>
                  <a:srgbClr val="0F172A"/>
                </a:solidFill>
                <a:latin typeface="Segoe UI"/>
              </a:defRPr>
            </a:pPr>
            <a:r>
              <a:t>•  Unit &amp; Service Tests: Kiểm thử công thức phạt trễ hạn lũy tiến, tính cọc 30%, kiểm tra trùng lịch.</a:t>
            </a:r>
          </a:p>
          <a:p>
            <a:pPr>
              <a:spcAft>
                <a:spcPts val="900"/>
              </a:spcAft>
              <a:defRPr sz="1300">
                <a:solidFill>
                  <a:srgbClr val="0F172A"/>
                </a:solidFill>
                <a:latin typeface="Segoe UI"/>
              </a:defRPr>
            </a:pPr>
            <a:r>
              <a:t>•  MockMvc Integration Tests: Kiểm thử toàn bộ các luồng xác thực JWT và phân quyền API.</a:t>
            </a:r>
          </a:p>
          <a:p>
            <a:pPr>
              <a:spcAft>
                <a:spcPts val="900"/>
              </a:spcAft>
              <a:defRPr sz="1300">
                <a:solidFill>
                  <a:srgbClr val="0F172A"/>
                </a:solidFill>
                <a:latin typeface="Segoe UI"/>
              </a:defRPr>
            </a:pPr>
            <a:r>
              <a:t>•  Concurrency Tests: Giả lập đa luồng đặt xe cùng lúc, xác nhận loại bỏ hoàn toàn Overbooking.</a:t>
            </a:r>
          </a:p>
          <a:p>
            <a:pPr>
              <a:spcAft>
                <a:spcPts val="900"/>
              </a:spcAft>
              <a:defRPr sz="1300">
                <a:solidFill>
                  <a:srgbClr val="0F172A"/>
                </a:solidFill>
                <a:latin typeface="Segoe UI"/>
              </a:defRPr>
            </a:pPr>
            <a:r>
              <a:t>•  Kiểm soát chất lượng: Tích hợp JaCoCo đo độ bao phủ mã nguồn trước khi merge Pull Request.</a:t>
            </a:r>
          </a:p>
        </p:txBody>
      </p:sp>
      <p:sp>
        <p:nvSpPr>
          <p:cNvPr id="5" name="Rounded Rectangle 4"/>
          <p:cNvSpPr/>
          <p:nvPr/>
        </p:nvSpPr>
        <p:spPr>
          <a:xfrm>
            <a:off x="6263640" y="1600200"/>
            <a:ext cx="519653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8_qa_test_suite_matrix.png"/>
          <p:cNvPicPr>
            <a:picLocks noChangeAspect="1"/>
          </p:cNvPicPr>
          <p:nvPr/>
        </p:nvPicPr>
        <p:blipFill>
          <a:blip r:embed="rId2"/>
          <a:stretch>
            <a:fillRect/>
          </a:stretch>
        </p:blipFill>
        <p:spPr>
          <a:xfrm>
            <a:off x="7650593" y="1737360"/>
            <a:ext cx="2422627" cy="43891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KẾT LUẬN  Tổng Kết Kết Quả Đạt Được Của Đề Tài</a:t>
            </a:r>
          </a:p>
          <a:p>
            <a:pPr>
              <a:spcBef>
                <a:spcPts val="400"/>
              </a:spcBef>
              <a:defRPr sz="1300">
                <a:solidFill>
                  <a:srgbClr val="475569"/>
                </a:solidFill>
                <a:latin typeface="Segoe UI"/>
              </a:defRPr>
            </a:pPr>
            <a:r>
              <a:t>&gt; Những thành quả nổi bật sau quá trình nghiên cứu và triển khai dự án:</a:t>
            </a:r>
          </a:p>
        </p:txBody>
      </p:sp>
      <p:sp>
        <p:nvSpPr>
          <p:cNvPr id="4" name="Rounded Rectangle 3"/>
          <p:cNvSpPr/>
          <p:nvPr/>
        </p:nvSpPr>
        <p:spPr>
          <a:xfrm>
            <a:off x="731520" y="1600200"/>
            <a:ext cx="34134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b="1">
                <a:solidFill>
                  <a:srgbClr val="EA580C"/>
                </a:solidFill>
                <a:latin typeface="Segoe UI"/>
              </a:defRPr>
            </a:pPr>
            <a:r>
              <a:t>KẾT QUẢ 01</a:t>
            </a:r>
          </a:p>
          <a:p>
            <a:pPr>
              <a:spcAft>
                <a:spcPts val="1400"/>
              </a:spcAft>
              <a:defRPr sz="1700" b="1">
                <a:solidFill>
                  <a:srgbClr val="0F172A"/>
                </a:solidFill>
                <a:latin typeface="Segoe UI"/>
              </a:defRPr>
            </a:pPr>
            <a:r>
              <a:t>Hoàn Thành 5 Sprints Scrum</a:t>
            </a:r>
          </a:p>
          <a:p>
            <a:pPr>
              <a:spcAft>
                <a:spcPts val="900"/>
              </a:spcAft>
              <a:defRPr sz="1300">
                <a:solidFill>
                  <a:srgbClr val="475569"/>
                </a:solidFill>
                <a:latin typeface="Segoe UI"/>
              </a:defRPr>
            </a:pPr>
            <a:r>
              <a:t>•  Tuân thủ chặt chẽ mô hình Agile Scrum từ Sprint 1 đến Sprint 5.</a:t>
            </a:r>
          </a:p>
          <a:p>
            <a:pPr>
              <a:spcAft>
                <a:spcPts val="900"/>
              </a:spcAft>
              <a:defRPr sz="1300">
                <a:solidFill>
                  <a:srgbClr val="475569"/>
                </a:solidFill>
                <a:latin typeface="Segoe UI"/>
              </a:defRPr>
            </a:pPr>
            <a:r>
              <a:t>•  Hoàn thành 100% User Stories cam kết theo đề bài thực tập K25.</a:t>
            </a:r>
          </a:p>
          <a:p>
            <a:pPr>
              <a:spcAft>
                <a:spcPts val="900"/>
              </a:spcAft>
              <a:defRPr sz="1300">
                <a:solidFill>
                  <a:srgbClr val="475569"/>
                </a:solidFill>
                <a:latin typeface="Segoe UI"/>
              </a:defRPr>
            </a:pPr>
            <a:r>
              <a:t>•  Thực hiện họp Daily Scrum và Retrospective đúng định kỳ.</a:t>
            </a:r>
          </a:p>
        </p:txBody>
      </p:sp>
      <p:sp>
        <p:nvSpPr>
          <p:cNvPr id="5" name="Rounded Rectangle 4"/>
          <p:cNvSpPr/>
          <p:nvPr/>
        </p:nvSpPr>
        <p:spPr>
          <a:xfrm>
            <a:off x="4389120" y="1600200"/>
            <a:ext cx="34134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b="1">
                <a:solidFill>
                  <a:srgbClr val="EA580C"/>
                </a:solidFill>
                <a:latin typeface="Segoe UI"/>
              </a:defRPr>
            </a:pPr>
            <a:r>
              <a:t>KẾT QUẢ 02</a:t>
            </a:r>
          </a:p>
          <a:p>
            <a:pPr>
              <a:spcAft>
                <a:spcPts val="1400"/>
              </a:spcAft>
              <a:defRPr sz="1700" b="1">
                <a:solidFill>
                  <a:srgbClr val="0F172A"/>
                </a:solidFill>
                <a:latin typeface="Segoe UI"/>
              </a:defRPr>
            </a:pPr>
            <a:r>
              <a:t>Kiến Trúc Thực Tế Chuẩn Mực</a:t>
            </a:r>
          </a:p>
          <a:p>
            <a:pPr>
              <a:spcAft>
                <a:spcPts val="900"/>
              </a:spcAft>
              <a:defRPr sz="1300">
                <a:solidFill>
                  <a:srgbClr val="475569"/>
                </a:solidFill>
                <a:latin typeface="Segoe UI"/>
              </a:defRPr>
            </a:pPr>
            <a:r>
              <a:t>•  Áp dụng thành công Khóa bi quan CSDL, Two-Tier Lock và VietQR 30%.</a:t>
            </a:r>
          </a:p>
          <a:p>
            <a:pPr>
              <a:spcAft>
                <a:spcPts val="900"/>
              </a:spcAft>
              <a:defRPr sz="1300">
                <a:solidFill>
                  <a:srgbClr val="475569"/>
                </a:solidFill>
                <a:latin typeface="Segoe UI"/>
              </a:defRPr>
            </a:pPr>
            <a:r>
              <a:t>•  Biên bản bàn giao điện tử 2 chiều triệt tiêu tranh chấp hư hỏng.</a:t>
            </a:r>
          </a:p>
          <a:p>
            <a:pPr>
              <a:spcAft>
                <a:spcPts val="900"/>
              </a:spcAft>
              <a:defRPr sz="1300">
                <a:solidFill>
                  <a:srgbClr val="475569"/>
                </a:solidFill>
                <a:latin typeface="Segoe UI"/>
              </a:defRPr>
            </a:pPr>
            <a:r>
              <a:t>•  Trợ lý AI hoạt động ổn định và sẵn sàng cả online lẫn offline.</a:t>
            </a:r>
          </a:p>
        </p:txBody>
      </p:sp>
      <p:sp>
        <p:nvSpPr>
          <p:cNvPr id="6" name="Rounded Rectangle 5"/>
          <p:cNvSpPr/>
          <p:nvPr/>
        </p:nvSpPr>
        <p:spPr>
          <a:xfrm>
            <a:off x="8046720" y="1600200"/>
            <a:ext cx="34134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400"/>
              </a:spcAft>
              <a:defRPr sz="1200" b="1">
                <a:solidFill>
                  <a:srgbClr val="EA580C"/>
                </a:solidFill>
                <a:latin typeface="Segoe UI"/>
              </a:defRPr>
            </a:pPr>
            <a:r>
              <a:t>KẾT QUẢ 03</a:t>
            </a:r>
          </a:p>
          <a:p>
            <a:pPr>
              <a:spcAft>
                <a:spcPts val="1400"/>
              </a:spcAft>
              <a:defRPr sz="1700" b="1">
                <a:solidFill>
                  <a:srgbClr val="0F172A"/>
                </a:solidFill>
                <a:latin typeface="Segoe UI"/>
              </a:defRPr>
            </a:pPr>
            <a:r>
              <a:t>Quy Trình Doanh Nghiệp</a:t>
            </a:r>
          </a:p>
          <a:p>
            <a:pPr>
              <a:spcAft>
                <a:spcPts val="900"/>
              </a:spcAft>
              <a:defRPr sz="1300">
                <a:solidFill>
                  <a:srgbClr val="475569"/>
                </a:solidFill>
                <a:latin typeface="Segoe UI"/>
              </a:defRPr>
            </a:pPr>
            <a:r>
              <a:t>•  Mô hình Git Feature-branch và Pull Request Review nghiêm ngặt.</a:t>
            </a:r>
          </a:p>
          <a:p>
            <a:pPr>
              <a:spcAft>
                <a:spcPts val="900"/>
              </a:spcAft>
              <a:defRPr sz="1300">
                <a:solidFill>
                  <a:srgbClr val="475569"/>
                </a:solidFill>
                <a:latin typeface="Segoe UI"/>
              </a:defRPr>
            </a:pPr>
            <a:r>
              <a:t>•  188 automated tests bảo vệ chất lượng mã nguồn trước khi release.</a:t>
            </a:r>
          </a:p>
          <a:p>
            <a:pPr>
              <a:spcAft>
                <a:spcPts val="900"/>
              </a:spcAft>
              <a:defRPr sz="1300">
                <a:solidFill>
                  <a:srgbClr val="475569"/>
                </a:solidFill>
                <a:latin typeface="Segoe UI"/>
              </a:defRPr>
            </a:pPr>
            <a:r>
              <a:t>•  Hệ thống vận hành trơn tru và sẵn sàng demo trực tiếp.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KẾT LUẬN  Những Hạn Chế Còn Tồn Tại &amp; Hướng Phát Triển</a:t>
            </a:r>
          </a:p>
          <a:p>
            <a:pPr>
              <a:spcBef>
                <a:spcPts val="400"/>
              </a:spcBef>
              <a:defRPr sz="1300">
                <a:solidFill>
                  <a:srgbClr val="475569"/>
                </a:solidFill>
                <a:latin typeface="Segoe UI"/>
              </a:defRPr>
            </a:pPr>
            <a:r>
              <a:t>&gt; Đánh giá trung thực hiện trạng và định hướng nâng cấp hệ thống:</a:t>
            </a:r>
          </a:p>
        </p:txBody>
      </p:sp>
      <p:sp>
        <p:nvSpPr>
          <p:cNvPr id="4" name="Rounded Rectangle 3"/>
          <p:cNvSpPr/>
          <p:nvPr/>
        </p:nvSpPr>
        <p:spPr>
          <a:xfrm>
            <a:off x="731520" y="160020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HẠN CHẾ 01</a:t>
            </a:r>
          </a:p>
          <a:p>
            <a:pPr>
              <a:spcAft>
                <a:spcPts val="500"/>
              </a:spcAft>
              <a:defRPr sz="1600" b="1">
                <a:solidFill>
                  <a:srgbClr val="0F172A"/>
                </a:solidFill>
                <a:latin typeface="Segoe UI"/>
              </a:defRPr>
            </a:pPr>
            <a:r>
              <a:t>Xác Nhận VietQR</a:t>
            </a:r>
          </a:p>
          <a:p>
            <a:pPr>
              <a:spcAft>
                <a:spcPts val="200"/>
              </a:spcAft>
              <a:defRPr sz="1250">
                <a:solidFill>
                  <a:srgbClr val="475569"/>
                </a:solidFill>
                <a:latin typeface="Segoe UI"/>
              </a:defRPr>
            </a:pPr>
            <a:r>
              <a:t>Hiện tại: Xác nhận cọc qua nút bấm mô phỏng Webhook trên màn hình.</a:t>
            </a:r>
          </a:p>
          <a:p>
            <a:pPr>
              <a:spcAft>
                <a:spcPts val="200"/>
              </a:spcAft>
              <a:defRPr sz="1250">
                <a:solidFill>
                  <a:srgbClr val="475569"/>
                </a:solidFill>
                <a:latin typeface="Segoe UI"/>
              </a:defRPr>
            </a:pPr>
            <a:r>
              <a:t>Hướng tới: Tích hợp Webhook biến động số dư ngân hàng tự động (Casso / SePay).</a:t>
            </a:r>
          </a:p>
        </p:txBody>
      </p:sp>
      <p:sp>
        <p:nvSpPr>
          <p:cNvPr id="5" name="Rounded Rectangle 4"/>
          <p:cNvSpPr/>
          <p:nvPr/>
        </p:nvSpPr>
        <p:spPr>
          <a:xfrm>
            <a:off x="6217920" y="160020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HẠN CHẾ 02</a:t>
            </a:r>
          </a:p>
          <a:p>
            <a:pPr>
              <a:spcAft>
                <a:spcPts val="500"/>
              </a:spcAft>
              <a:defRPr sz="1600" b="1">
                <a:solidFill>
                  <a:srgbClr val="0F172A"/>
                </a:solidFill>
                <a:latin typeface="Segoe UI"/>
              </a:defRPr>
            </a:pPr>
            <a:r>
              <a:t>Thẩm Định eKYC</a:t>
            </a:r>
          </a:p>
          <a:p>
            <a:pPr>
              <a:spcAft>
                <a:spcPts val="200"/>
              </a:spcAft>
              <a:defRPr sz="1250">
                <a:solidFill>
                  <a:srgbClr val="475569"/>
                </a:solidFill>
                <a:latin typeface="Segoe UI"/>
              </a:defRPr>
            </a:pPr>
            <a:r>
              <a:t>Hiện tại: Admin duyệt bằng mắt trên ảnh chụp CCCD và bằng lái xe.</a:t>
            </a:r>
          </a:p>
          <a:p>
            <a:pPr>
              <a:spcAft>
                <a:spcPts val="200"/>
              </a:spcAft>
              <a:defRPr sz="1250">
                <a:solidFill>
                  <a:srgbClr val="475569"/>
                </a:solidFill>
                <a:latin typeface="Segoe UI"/>
              </a:defRPr>
            </a:pPr>
            <a:r>
              <a:t>Hướng tới: Tích hợp AI OCR quét thông tin giấy tờ và so khớp khuôn mặt sinh trắc.</a:t>
            </a:r>
          </a:p>
        </p:txBody>
      </p:sp>
      <p:sp>
        <p:nvSpPr>
          <p:cNvPr id="6" name="Rounded Rectangle 5"/>
          <p:cNvSpPr/>
          <p:nvPr/>
        </p:nvSpPr>
        <p:spPr>
          <a:xfrm>
            <a:off x="731520" y="406908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HẠN CHẾ 03</a:t>
            </a:r>
          </a:p>
          <a:p>
            <a:pPr>
              <a:spcAft>
                <a:spcPts val="500"/>
              </a:spcAft>
              <a:defRPr sz="1600" b="1">
                <a:solidFill>
                  <a:srgbClr val="0F172A"/>
                </a:solidFill>
                <a:latin typeface="Segoe UI"/>
              </a:defRPr>
            </a:pPr>
            <a:r>
              <a:t>Thông Báo Realtime</a:t>
            </a:r>
          </a:p>
          <a:p>
            <a:pPr>
              <a:spcAft>
                <a:spcPts val="200"/>
              </a:spcAft>
              <a:defRPr sz="1250">
                <a:solidFill>
                  <a:srgbClr val="475569"/>
                </a:solidFill>
                <a:latin typeface="Segoe UI"/>
              </a:defRPr>
            </a:pPr>
            <a:r>
              <a:t>Hiện tại: Sử dụng cơ chế REST Polling định kỳ để cập nhật chuông.</a:t>
            </a:r>
          </a:p>
          <a:p>
            <a:pPr>
              <a:spcAft>
                <a:spcPts val="200"/>
              </a:spcAft>
              <a:defRPr sz="1250">
                <a:solidFill>
                  <a:srgbClr val="475569"/>
                </a:solidFill>
                <a:latin typeface="Segoe UI"/>
              </a:defRPr>
            </a:pPr>
            <a:r>
              <a:t>Hướng tới: Nâng cấp lên kết nối hai chiều WebSocket STOMP Broker.</a:t>
            </a:r>
          </a:p>
        </p:txBody>
      </p:sp>
      <p:sp>
        <p:nvSpPr>
          <p:cNvPr id="7" name="Rounded Rectangle 6"/>
          <p:cNvSpPr/>
          <p:nvPr/>
        </p:nvSpPr>
        <p:spPr>
          <a:xfrm>
            <a:off x="6217920" y="4069080"/>
            <a:ext cx="5242255"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wrap="square"/>
          <a:lstStyle/>
          <a:p>
            <a:pPr algn="ctr">
              <a:spcAft>
                <a:spcPts val="200"/>
              </a:spcAft>
              <a:defRPr sz="1150" b="1">
                <a:solidFill>
                  <a:srgbClr val="EA580C"/>
                </a:solidFill>
                <a:latin typeface="Segoe UI"/>
              </a:defRPr>
            </a:pPr>
            <a:r>
              <a:t>HẠN CHẾ 04</a:t>
            </a:r>
          </a:p>
          <a:p>
            <a:pPr>
              <a:spcAft>
                <a:spcPts val="500"/>
              </a:spcAft>
              <a:defRPr sz="1600" b="1">
                <a:solidFill>
                  <a:srgbClr val="0F172A"/>
                </a:solidFill>
                <a:latin typeface="Segoe UI"/>
              </a:defRPr>
            </a:pPr>
            <a:r>
              <a:t>Bản Đồ Tương Tác</a:t>
            </a:r>
          </a:p>
          <a:p>
            <a:pPr>
              <a:spcAft>
                <a:spcPts val="200"/>
              </a:spcAft>
              <a:defRPr sz="1250">
                <a:solidFill>
                  <a:srgbClr val="475569"/>
                </a:solidFill>
                <a:latin typeface="Segoe UI"/>
              </a:defRPr>
            </a:pPr>
            <a:r>
              <a:t>Hiện tại: Quản lý tọa độ trong DB, giao diện lọc theo Tỉnh/Thành.</a:t>
            </a:r>
          </a:p>
          <a:p>
            <a:pPr>
              <a:spcAft>
                <a:spcPts val="200"/>
              </a:spcAft>
              <a:defRPr sz="1250">
                <a:solidFill>
                  <a:srgbClr val="475569"/>
                </a:solidFill>
                <a:latin typeface="Segoe UI"/>
              </a:defRPr>
            </a:pPr>
            <a:r>
              <a:t>Hướng tới: Nhúng bản đồ Mapbox/Leaflet tìm xe theo bán kính 5 - 10km.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rIns="0" tIns="0" bIns="0">
            <a:spAutoFit/>
          </a:bodyPr>
          <a:lstStyle/>
          <a:p>
            <a:r>
              <a:rPr sz="2200" b="1">
                <a:solidFill>
                  <a:srgbClr val="EA580C"/>
                </a:solidFill>
                <a:latin typeface="Segoe UI"/>
              </a:rPr>
              <a:t>&gt;&gt;&gt;  </a:t>
            </a:r>
            <a:r>
              <a:rPr sz="2300" b="1">
                <a:solidFill>
                  <a:srgbClr val="0F172A"/>
                </a:solidFill>
                <a:latin typeface="Segoe UI"/>
              </a:rPr>
              <a:t>Q&amp;A  Phiên Vấn Đáp &amp; Lắng Nghe Góp Ý Của Hội Đồng</a:t>
            </a:r>
          </a:p>
          <a:p>
            <a:pPr>
              <a:spcBef>
                <a:spcPts val="400"/>
              </a:spcBef>
              <a:defRPr sz="1300">
                <a:solidFill>
                  <a:srgbClr val="475569"/>
                </a:solidFill>
                <a:latin typeface="Segoe UI"/>
              </a:defRPr>
            </a:pPr>
            <a:r>
              <a:t>&gt; Lời tri ân chân thành và phân công thành viên giải đáp phản biện:</a:t>
            </a:r>
          </a:p>
        </p:txBody>
      </p:sp>
      <p:sp>
        <p:nvSpPr>
          <p:cNvPr id="4" name="Rounded Rectangle 3"/>
          <p:cNvSpPr/>
          <p:nvPr/>
        </p:nvSpPr>
        <p:spPr>
          <a:xfrm>
            <a:off x="731520" y="1600200"/>
            <a:ext cx="53035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1400"/>
              </a:spcAft>
              <a:defRPr sz="1600" b="1">
                <a:solidFill>
                  <a:srgbClr val="1E3A8A"/>
                </a:solidFill>
                <a:latin typeface="Segoe UI"/>
              </a:defRPr>
            </a:pPr>
            <a:r>
              <a:t>LỜI TRI ÂN SÂU SẮC</a:t>
            </a:r>
          </a:p>
          <a:p>
            <a:pPr>
              <a:defRPr sz="1400">
                <a:solidFill>
                  <a:srgbClr val="0F172A"/>
                </a:solidFill>
                <a:latin typeface="Segoe UI"/>
              </a:defRPr>
            </a:pPr>
            <a:r>
              <a:t>Nhóm xin trân trọng cảm ơn quý Thầy, Cô trong Hội đồng phản biện đã dành thời gian quý báu theo dõi bài báo cáo của nhóm.</a:t>
            </a:r>
            <a:br/>
            <a:br/>
            <a:r>
              <a:t>Đặc biệt, nhóm xin gửi lời tri ân sâu sắc nhất đến Thầy Trương Thanh Bình đã luôn đồng hành, định hướng và chỉ bảo tận tình cho nhóm trong suốt quá trình hoàn thiện đề án tốt nghiệp này.</a:t>
            </a:r>
          </a:p>
        </p:txBody>
      </p:sp>
      <p:sp>
        <p:nvSpPr>
          <p:cNvPr id="5" name="Rounded Rectangle 4"/>
          <p:cNvSpPr/>
          <p:nvPr/>
        </p:nvSpPr>
        <p:spPr>
          <a:xfrm>
            <a:off x="6263640" y="1600200"/>
            <a:ext cx="519653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20040" rIns="320040" tIns="320040" wrap="square"/>
          <a:lstStyle/>
          <a:p>
            <a:pPr algn="ctr">
              <a:spcAft>
                <a:spcPts val="1400"/>
              </a:spcAft>
              <a:defRPr sz="1600" b="1">
                <a:solidFill>
                  <a:srgbClr val="EA580C"/>
                </a:solidFill>
                <a:latin typeface="Segoe UI"/>
              </a:defRPr>
            </a:pPr>
            <a:r>
              <a:t>PHIÊN VẤN ĐÁP &amp; HỎI ĐÁP (Q&amp;A)</a:t>
            </a:r>
          </a:p>
          <a:p>
            <a:pPr>
              <a:defRPr sz="1250">
                <a:solidFill>
                  <a:srgbClr val="0F172A"/>
                </a:solidFill>
                <a:latin typeface="Segoe UI"/>
              </a:defRPr>
            </a:pPr>
            <a:r>
              <a:t>Nhóm sẵn sàng lắng nghe những góp ý quý báu và giải đáp mọi câu hỏi phản biện từ quý Thầy, Cô!</a:t>
            </a:r>
            <a:br/>
            <a:br/>
            <a:r>
              <a:t>Đại diện trả lời: Nguyễn Duy Bảo (Tech Lead)</a:t>
            </a:r>
            <a:br/>
            <a:r>
              <a:t>Cùng sự phối hợp của các thành viên chuyên trách:</a:t>
            </a:r>
            <a:br/>
            <a:r>
              <a:t>•  Nguyễn Chí Tín: Thanh toán VietQR &amp; Giao diện Web</a:t>
            </a:r>
            <a:br/>
            <a:r>
              <a:t>•  Lâm Chí Vĩ: Backend Core &amp; Khóa bi quan CSDL</a:t>
            </a:r>
            <a:br/>
            <a:r>
              <a:t>•  Đỗ Ngọc Phát: Trợ lý AI Gemini &amp; Bảo mật JWT</a:t>
            </a:r>
            <a:br/>
            <a:r>
              <a:t>•  Nguyễn Duy Quân: Kiểm thử 188 Tests &amp; Xử phạt quá hạn</a:t>
            </a:r>
            <a:br/>
            <a:r>
              <a:t>•  NguyễnTấn Lộc Khiêm: Thiết kế Kiến trúc &amp; Use Case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