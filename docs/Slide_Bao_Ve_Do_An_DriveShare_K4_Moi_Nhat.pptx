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3993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LỜI THOẠI THUYẾT TRÌNH (00:00 - 00:30):</a:t>
            </a:r>
          </a:p>
          <a:p>
            <a:r>
              <a:t>Kính thưa quý Thầy Cô trong Hội đồng phản biện và Thầy Trương Thanh Bình kính mến!</a:t>
            </a:r>
          </a:p>
          <a:p>
            <a:r>
              <a:t>Em tên là Nguyễn Duy Bảo, đại diện cho nhóm sinh viên Khóa K25 chuyên ngành Công nghệ Phần mềm.</a:t>
            </a:r>
          </a:p>
          <a:p>
            <a:r>
              <a:t>Hôm nay, nhóm chúng em xin được báo cáo đề tài tốt nghiệp: DriveShare - Nền tảng chia sẻ và cho thuê xe tự lái trực tuyến theo mô hình P2P.</a:t>
            </a:r>
          </a:p>
          <a:p>
            <a:r>
              <a:t>Bài thuyết trình gồm 3 chương trọng tâm với thời lượng 15 phút. Em xin phép được bắt đầu!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LỜI THOẠI THUYẾT TRÌNH (00:30 - 01:15):</a:t>
            </a:r>
          </a:p>
          <a:p>
            <a:r>
              <a:t>Thưa Thầy Cô, nhu cầu thuê xe tự lái tăng rất nhanh, nhưng cách thuê truyền thống lộ rõ 3 bất cập lớn:</a:t>
            </a:r>
          </a:p>
          <a:p>
            <a:r>
              <a:t>1. Rủi ro giam giữ tài sản: Khách phải để lại CCCD gốc hoặc xe máy giá trị cao.</a:t>
            </a:r>
          </a:p>
          <a:p>
            <a:r>
              <a:t>2. Tranh chấp trầy xước: Thiếu biên bản nghiệm thu nên hay xảy ra cãi vã khi trả xe.</a:t>
            </a:r>
          </a:p>
          <a:p>
            <a:r>
              <a:t>3. Quản lý thủ công: Nhận cọc qua Zalo dễ dẫn đến đặt trùng lịch 2 người cùng ngày.</a:t>
            </a:r>
          </a:p>
          <a:p>
            <a:r>
              <a:t>Mô hình P2P của DriveShare ra đời nhằm giải quyết triệt để các vấn đề này.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LỜI THOẠI THUYẾT TRÌNH (01:15 - 02:15):</a:t>
            </a:r>
          </a:p>
          <a:p>
            <a:r>
              <a:t>Để tạo ưu thế cạnh tranh, nhóm đã lập Bảng đối chuẩn giữa Mioto, Zoomcar với DriveShare qua 5 tiêu chí:</a:t>
            </a:r>
          </a:p>
          <a:p>
            <a:r>
              <a:t>- Về cọc: DriveShare áp dụng Ký quỹ 30% VietQR giúp giảm áp lực tiền mặt.</a:t>
            </a:r>
          </a:p>
          <a:p>
            <a:r>
              <a:t>- Về hỗ trợ: Có Trợ lý AI tính chi phí và tìm xe tự động.</a:t>
            </a:r>
          </a:p>
          <a:p>
            <a:r>
              <a:t>- Về bàn giao: Bắt buộc Check-in/Check-out 2 chiều có ảnh đối soát ODO và xăng.</a:t>
            </a:r>
          </a:p>
          <a:p>
            <a:r>
              <a:t>- Đặc biệt: Tiên phong tự động hóa xử phạt quá hạn và trích xuất hồ sơ vi phạm theo Điều 175 BLHS.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LỜI THOẠI THUYẾT TRÌNH (02:15 - 03:00):</a:t>
            </a:r>
          </a:p>
          <a:p>
            <a:r>
              <a:t>Từ các phân tích trên, DriveShare xác định 4 mục tiêu then chốt:</a:t>
            </a:r>
          </a:p>
          <a:p>
            <a:r>
              <a:t>1. Xây dựng nền tảng P2P an toàn trên cả PC và thiết bị di động.</a:t>
            </a:r>
          </a:p>
          <a:p>
            <a:r>
              <a:t>2. Bảo vệ dòng tiền cho cả hai bên nhờ cơ chế giữ cọc Escrow 30%.</a:t>
            </a:r>
          </a:p>
          <a:p>
            <a:r>
              <a:t>3. Giải quyết triệt để lỗi trùng xe bằng khóa CSDL chuyên sâu.</a:t>
            </a:r>
          </a:p>
          <a:p>
            <a:r>
              <a:t>4. Tích hợp AI nâng cao trải nghiệm đặt xe thông minh.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LỜI THOẠI THUYẾT TRÌNH (03:00 - 03:45):</a:t>
            </a:r>
          </a:p>
          <a:p>
            <a:r>
              <a:t>Về kiến trúc, hệ thống tách biệt Client và Server qua RESTful API chuẩn ApiResponse&lt;T&gt;.</a:t>
            </a:r>
          </a:p>
          <a:p>
            <a:r>
              <a:t>Backend dùng Spring Boot 3.3.4 phân chia 9 module nghiệp vụ rõ ràng.</a:t>
            </a:r>
          </a:p>
          <a:p>
            <a:r>
              <a:t>CSDL PostgreSQL 16 đóng gói trong Docker container đảm bảo tính nhất quán.</a:t>
            </a:r>
          </a:p>
          <a:p>
            <a:r>
              <a:t>Hình ảnh và video được lưu trữ tối ưu trên Cloudinary CDN kèm bộ nhớ lưu vết chat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LỜI THOẠI THUYẾT TRÌNH (03:45 - 04:30):</a:t>
            </a:r>
          </a:p>
          <a:p>
            <a:r>
              <a:t>Đây là Sơ đồ Use Case quy trình đặt xe và vận hành cốt lõi:</a:t>
            </a:r>
          </a:p>
          <a:p>
            <a:r>
              <a:t>- Khách thuê tạo yêu cầu, khi được duyệt sẽ thực hiện thanh toán cọc 30% qua VietQR để kích hoạt Giữ cọc Escrow &amp; Hard Lock.</a:t>
            </a:r>
          </a:p>
          <a:p>
            <a:r>
              <a:t>- Chủ xe khi duyệt đơn sẽ kích hoạt Khóa tạm lịch xe Soft Lock trong 45 phút.</a:t>
            </a:r>
          </a:p>
          <a:p>
            <a:r>
              <a:t>- Hai bên cùng thực hiện Check-in giao xe có 6 góc ảnh và Check-out trả xe có tính phụ phí minh bạch.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LỜI THOẠI THUYẾT TRÌNH (04:30 - 05:20):</a:t>
            </a:r>
          </a:p>
          <a:p>
            <a:r>
              <a:t>Về cơ sở dữ liệu, nhóm xây dựng trên PostgreSQL 16 gồm 15 bảng quan hệ chuẩn 3NF:</a:t>
            </a:r>
          </a:p>
          <a:p>
            <a:r>
              <a:t>- Bảng users: Quản lý người dùng, phân quyền RBAC và token_version.</a:t>
            </a:r>
          </a:p>
          <a:p>
            <a:r>
              <a:t>- Bảng cars: Quản lý thông tin xe, biển số UNIQUE và đơn giá thuê.</a:t>
            </a:r>
          </a:p>
          <a:p>
            <a:r>
              <a:t>- Bảng rentals: Bảng hạt nhân lưu trữ toàn bộ tiến trình đơn thuê và thời hạn cọc 45 phút.</a:t>
            </a:r>
          </a:p>
          <a:p>
            <a:r>
              <a:t>- Bảng payments: Lưu trữ mã giao dịch DSPAY, mã VietQR và trạng thái ký quỹ cọc 30%.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LỜI THOẠI THUYẾT TRÌNH (05:20 - 06:10):</a:t>
            </a:r>
          </a:p>
          <a:p>
            <a:r>
              <a:t>Toàn bộ quy trình đặt xe được điều khiển bởi State Machine chuyên sâu:</a:t>
            </a:r>
          </a:p>
          <a:p>
            <a:r>
              <a:t>- Đơn tạo mới PENDING_APPROVAL: Chủ xe có 60 phút để duyệt, quá giờ tự hủy EXPIRED.</a:t>
            </a:r>
          </a:p>
          <a:p>
            <a:r>
              <a:t>- Duyệt đơn kích hoạt WAITING_PAYMENT (Soft Lock 45 phút), các đơn trùng lịch tự sang ON_HOLD.</a:t>
            </a:r>
          </a:p>
          <a:p>
            <a:r>
              <a:t>- Cọc 30% VietQR thành công chuyển sang CONFIRMED (Hard Lock) và tự động từ chối các đơn ON_HOLD.</a:t>
            </a:r>
          </a:p>
          <a:p>
            <a:r>
              <a:t>- Nếu khách hết 45 phút không cọc, đơn chuyển EXPIRED và hệ thống tự động phục hồi đơn ON_HOLD về Chờ duyệt!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LỜI THOẠI THUYẾT TRÌNH (06:10 - 07:10):</a:t>
            </a:r>
          </a:p>
          <a:p>
            <a:r>
              <a:t>Đây là Điểm sáng kỹ thuật then chốt: Xử lý Race Condition bằng Khóa bi quan.</a:t>
            </a:r>
          </a:p>
          <a:p>
            <a:r>
              <a:t>Lệnh SELECT FOR UPDATE khóa trực tiếp hàng dữ liệu xe trong PostgreSQL trong suốt transaction duyệt đơn, đảm bảo không thể có 2 đơn cùng được chốt một lúc.</a:t>
            </a:r>
          </a:p>
          <a:p>
            <a:r>
              <a:t>Khi Admin xử lý khiếu nại, bản ghi tranh chấp cũng được khóa để chống hoàn tiền 2 lần.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LỜI THOẠI THUYẾT TRÌNH (07:10 - 08:00):</a:t>
            </a:r>
          </a:p>
          <a:p>
            <a:r>
              <a:t>Tiếp nối là Cơ chế Khóa 2 tầng linh hoạt:</a:t>
            </a:r>
          </a:p>
          <a:p>
            <a:r>
              <a:t>Soft Lock 45 phút cho khách thời gian chuyển khoản cọc 30% mà không sợ mất chỗ.</a:t>
            </a:r>
          </a:p>
          <a:p>
            <a:r>
              <a:t>Khi có cọc, Hard Lock kích hoạt chốt xe vĩnh viễn.</a:t>
            </a:r>
          </a:p>
          <a:p>
            <a:r>
              <a:t>Nếu quá 45 phút khách không cọc, Cronjob tự động giải phóng xe và phục hồi các đơn ON_HOLD về Chờ duyệt để đón khách tiếp theo.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LỜI THOẠI THUYẾT TRÌNH (08:00 - 08:30):</a:t>
            </a:r>
          </a:p>
          <a:p>
            <a:r>
              <a:t>Về bảo mật, cơ chế token_version cho phép thu hồi JWT ngay khi đổi mật khẩu, tự khóa tài khoản sau 5 lần đăng nhập sai.</a:t>
            </a:r>
          </a:p>
          <a:p>
            <a:r>
              <a:t>Phân hệ AI hoạt động theo cơ chế chịu lỗi Fault-Tolerant: Bình thường gọi Gemini 2.5 Flash; khi mất mạng bộ máy Heuristic Regex tự kích hoạt để tư vấn xe và tính cọc 30% mượt mà.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LỜI THOẠI THUYẾT TRÌNH (08:30 - 09:30):</a:t>
            </a:r>
          </a:p>
          <a:p>
            <a:r>
              <a:t>Bước sang Chương 3 thực nghiệm, đây là 3 màn hình cốt lõi của Khách thuê trên Mobile:</a:t>
            </a:r>
          </a:p>
          <a:p>
            <a:r>
              <a:t>1. Màn hình tìm xe với bộ lọc đa tiêu chí trực quan.</a:t>
            </a:r>
          </a:p>
          <a:p>
            <a:r>
              <a:t>2. Màn hình thanh toán ký quỹ 30% VietQR tự động sinh mã kèm đồng hồ đếm ngược Soft Lock 45 phút.</a:t>
            </a:r>
          </a:p>
          <a:p>
            <a:r>
              <a:t>3. Màn hình gửi khiếu nại sự cố kèm video bằng chứng để nhận lại 100% tiền cọc nếu chủ xe không giao xe.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LỜI THOẠI THUYẾT TRÌNH (09:30 - 10:30):</a:t>
            </a:r>
          </a:p>
          <a:p>
            <a:r>
              <a:t>Đối với phân hệ Chủ xe, nhóm triển khai 3 chức năng thực nghiệm then chốt:</a:t>
            </a:r>
          </a:p>
          <a:p>
            <a:r>
              <a:t>1. Dashboard quản lý đội xe với nút bật/tắt nhận khách tức thì.</a:t>
            </a:r>
          </a:p>
          <a:p>
            <a:r>
              <a:t>2. Biên bản bàn giao điện tử 2 chiều: Nhập số km ODO, vạch xăng và chụp 6 góc ảnh làm bằng chứng đối soát.</a:t>
            </a:r>
          </a:p>
          <a:p>
            <a:r>
              <a:t>3. Ví doanh thu minh bạch: Tự động quyết toán 90% tiền thuê cho chủ xe sau khi cuốc xe hoàn tất.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LỜI THOẠI THUYẾT TRÌNH (10:30 - 11:30):</a:t>
            </a:r>
          </a:p>
          <a:p>
            <a:r>
              <a:t>Cổng Quản trị Admin đảm nhiệm 3 vai trò sống còn:</a:t>
            </a:r>
          </a:p>
          <a:p>
            <a:r>
              <a:t>1. Dashboard giám sát toàn bộ hoạt động và doanh thu ký quỹ sàn.</a:t>
            </a:r>
          </a:p>
          <a:p>
            <a:r>
              <a:t>2. Thẩm định trực quan hồ sơ eKYC CCCD và GPLX của khách thuê trước khi cho phép đặt xe.</a:t>
            </a:r>
          </a:p>
          <a:p>
            <a:r>
              <a:t>3. Trung tâm phân xử Dispute giải ngân hoàn cọc 100%, phạt chủ xe vi phạm 500k và tự động khóa nick, xuất hồ sơ theo Điều 175 BLHS nếu quá hạn 24h.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LỜI THOẠI THUYẾT TRÌNH (11:30 - 12:15):</a:t>
            </a:r>
          </a:p>
          <a:p>
            <a:r>
              <a:t>Điểm đột phá tiếp theo là Quy trình nghiệm thu xe 2 chiều:</a:t>
            </a:r>
          </a:p>
          <a:p>
            <a:r>
              <a:t>Cả lúc giao xe và nhận xe đều bắt buộc nhập ODO, vạch xăng và chụp 6 góc ảnh.</a:t>
            </a:r>
          </a:p>
          <a:p>
            <a:r>
              <a:t>Dữ liệu lưu vào bảng rental_inspections tạo bằng chứng đối soát minh bạch, loại bỏ hoàn toàn các vụ cãi vã đền bù hư hỏng.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LỜI THOẠI THUYẾT TRÌNH (12:15 - 13:00):</a:t>
            </a:r>
          </a:p>
          <a:p>
            <a:r>
              <a:t>Để đảm bảo chất lượng, nhóm xây dựng 188 bài test tự động:</a:t>
            </a:r>
          </a:p>
          <a:p>
            <a:r>
              <a:t>Từ Unit Test logic tính tiền, phạt trễ hạn;</a:t>
            </a:r>
          </a:p>
          <a:p>
            <a:r>
              <a:t>MockMvc kiểm thử phân quyền;</a:t>
            </a:r>
          </a:p>
          <a:p>
            <a:r>
              <a:t>Đến Concurrency Test giả lập đa luồng đặt xe cùng lúc để chứng minh tính an toàn của Khóa bi quan.</a:t>
            </a:r>
          </a:p>
          <a:p>
            <a:r>
              <a:t>Toàn bộ 188 tests đều pass 100%.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LỜI THOẠI THUYẾT TRÌNH (13:00 - 13:45):</a:t>
            </a:r>
          </a:p>
          <a:p>
            <a:r>
              <a:t>Tóm lại, sau 5 Sprints Agile Scrum, nhóm chúng em đã đạt được các kết quả trọng tâm:</a:t>
            </a:r>
          </a:p>
          <a:p>
            <a:r>
              <a:t>1. Xây dựng nền tảng thuê xe P2P an toàn, khép kín.</a:t>
            </a:r>
          </a:p>
          <a:p>
            <a:r>
              <a:t>2. Áp dụng thành công các kỹ thuật chuyên sâu: Khóa bi quan CSDL, ký quỹ VietQR 30%, bàn giao 2 chiều và AI tư vấn.</a:t>
            </a:r>
          </a:p>
          <a:p>
            <a:r>
              <a:t>3. Tuân thủ quy trình phát triển doanh nghiệp chuẩn chỉ với 188 bài test tự động.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LỜI THOẠI THUYẾT TRÌNH (13:45 - 14:35):</a:t>
            </a:r>
          </a:p>
          <a:p>
            <a:r>
              <a:t>Với tinh thần cầu thị và trung thực khoa học, nhóm xin chủ động báo cáo 4 hạn chế hiện tại:</a:t>
            </a:r>
          </a:p>
          <a:p>
            <a:r>
              <a:t>1. Xác nhận chuyển khoản VietQR đang dùng nút mô phỏng -&gt; Hướng tới Webhook Casso.</a:t>
            </a:r>
          </a:p>
          <a:p>
            <a:r>
              <a:t>2. eKYC đang do Admin duyệt bằng mắt -&gt; Hướng tới AI OCR nhận diện CCCD.</a:t>
            </a:r>
          </a:p>
          <a:p>
            <a:r>
              <a:t>3. Thông báo dùng REST Polling -&gt; Hướng tới WebSocket STOMP.</a:t>
            </a:r>
          </a:p>
          <a:p>
            <a:r>
              <a:t>4. Danh sách xe lọc theo Tỉnh/Thành -&gt; Hướng tới nhúng bản đồ tương tác Mapbox.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LỜI THOẠI THUYẾT TRÌNH (14:35 - 15:00):</a:t>
            </a:r>
          </a:p>
          <a:p>
            <a:r>
              <a:rPr dirty="0" err="1"/>
              <a:t>Bài</a:t>
            </a:r>
            <a:r>
              <a:rPr dirty="0"/>
              <a:t> </a:t>
            </a:r>
            <a:r>
              <a:rPr dirty="0" err="1"/>
              <a:t>thuyết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</a:t>
            </a:r>
            <a:r>
              <a:rPr dirty="0" err="1"/>
              <a:t>báo</a:t>
            </a:r>
            <a:r>
              <a:rPr dirty="0"/>
              <a:t> </a:t>
            </a:r>
            <a:r>
              <a:rPr dirty="0" err="1"/>
              <a:t>cáo</a:t>
            </a:r>
            <a:r>
              <a:rPr dirty="0"/>
              <a:t> </a:t>
            </a:r>
            <a:r>
              <a:rPr dirty="0" err="1"/>
              <a:t>đề</a:t>
            </a:r>
            <a:r>
              <a:rPr dirty="0"/>
              <a:t> </a:t>
            </a:r>
            <a:r>
              <a:rPr dirty="0" err="1"/>
              <a:t>tài</a:t>
            </a:r>
            <a:r>
              <a:rPr dirty="0"/>
              <a:t> </a:t>
            </a:r>
            <a:r>
              <a:rPr dirty="0" err="1"/>
              <a:t>của</a:t>
            </a:r>
            <a:r>
              <a:rPr dirty="0"/>
              <a:t> </a:t>
            </a:r>
            <a:r>
              <a:rPr dirty="0" err="1"/>
              <a:t>nhóm</a:t>
            </a:r>
            <a:r>
              <a:rPr dirty="0"/>
              <a:t> </a:t>
            </a:r>
            <a:r>
              <a:rPr dirty="0" err="1"/>
              <a:t>chúng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đến</a:t>
            </a:r>
            <a:r>
              <a:rPr dirty="0"/>
              <a:t> </a:t>
            </a:r>
            <a:r>
              <a:rPr dirty="0" err="1"/>
              <a:t>đây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thúc</a:t>
            </a:r>
            <a:r>
              <a:rPr dirty="0"/>
              <a:t>.</a:t>
            </a:r>
          </a:p>
          <a:p>
            <a:r>
              <a:rPr dirty="0" err="1"/>
              <a:t>Nhóm</a:t>
            </a:r>
            <a:r>
              <a:rPr dirty="0"/>
              <a:t> </a:t>
            </a:r>
            <a:r>
              <a:rPr dirty="0" err="1"/>
              <a:t>xin</a:t>
            </a:r>
            <a:r>
              <a:rPr dirty="0"/>
              <a:t> </a:t>
            </a:r>
            <a:r>
              <a:rPr dirty="0" err="1"/>
              <a:t>gửi</a:t>
            </a:r>
            <a:r>
              <a:rPr dirty="0"/>
              <a:t> </a:t>
            </a:r>
            <a:r>
              <a:rPr dirty="0" err="1"/>
              <a:t>lời</a:t>
            </a:r>
            <a:r>
              <a:rPr dirty="0"/>
              <a:t> </a:t>
            </a:r>
            <a:r>
              <a:rPr dirty="0" err="1"/>
              <a:t>cảm</a:t>
            </a:r>
            <a:r>
              <a:rPr dirty="0"/>
              <a:t> </a:t>
            </a:r>
            <a:r>
              <a:rPr dirty="0" err="1"/>
              <a:t>ơn</a:t>
            </a:r>
            <a:r>
              <a:rPr dirty="0"/>
              <a:t> </a:t>
            </a:r>
            <a:r>
              <a:rPr dirty="0" err="1"/>
              <a:t>chân</a:t>
            </a:r>
            <a:r>
              <a:rPr dirty="0"/>
              <a:t> </a:t>
            </a:r>
            <a:r>
              <a:rPr dirty="0" err="1"/>
              <a:t>thành</a:t>
            </a:r>
            <a:r>
              <a:rPr dirty="0"/>
              <a:t> </a:t>
            </a:r>
            <a:r>
              <a:rPr dirty="0" err="1"/>
              <a:t>nhất</a:t>
            </a:r>
            <a:r>
              <a:rPr dirty="0"/>
              <a:t> </a:t>
            </a:r>
            <a:r>
              <a:rPr dirty="0" err="1"/>
              <a:t>đến</a:t>
            </a:r>
            <a:r>
              <a:rPr dirty="0"/>
              <a:t> </a:t>
            </a:r>
            <a:r>
              <a:rPr dirty="0" err="1"/>
              <a:t>quý</a:t>
            </a:r>
            <a:r>
              <a:rPr dirty="0"/>
              <a:t> </a:t>
            </a:r>
            <a:r>
              <a:rPr dirty="0" err="1"/>
              <a:t>Thầy</a:t>
            </a:r>
            <a:r>
              <a:rPr dirty="0"/>
              <a:t> </a:t>
            </a:r>
            <a:r>
              <a:rPr dirty="0" err="1"/>
              <a:t>Cô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Hội</a:t>
            </a:r>
            <a:r>
              <a:rPr dirty="0"/>
              <a:t> </a:t>
            </a:r>
            <a:r>
              <a:rPr dirty="0" err="1"/>
              <a:t>đồng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đặc</a:t>
            </a:r>
            <a:r>
              <a:rPr dirty="0"/>
              <a:t> </a:t>
            </a:r>
            <a:r>
              <a:rPr dirty="0" err="1"/>
              <a:t>biệt</a:t>
            </a:r>
            <a:r>
              <a:rPr dirty="0"/>
              <a:t>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Thầy</a:t>
            </a:r>
            <a:r>
              <a:rPr dirty="0"/>
              <a:t> Trương Thanh Bình.</a:t>
            </a:r>
          </a:p>
          <a:p>
            <a:r>
              <a:rPr dirty="0"/>
              <a:t>Sau </a:t>
            </a:r>
            <a:r>
              <a:rPr dirty="0" err="1"/>
              <a:t>đây</a:t>
            </a:r>
            <a:r>
              <a:rPr dirty="0"/>
              <a:t>, </a:t>
            </a:r>
            <a:r>
              <a:rPr dirty="0" err="1"/>
              <a:t>nhóm</a:t>
            </a:r>
            <a:r>
              <a:rPr dirty="0"/>
              <a:t> </a:t>
            </a:r>
            <a:r>
              <a:rPr dirty="0" err="1"/>
              <a:t>chúng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xin</a:t>
            </a:r>
            <a:r>
              <a:rPr dirty="0"/>
              <a:t> </a:t>
            </a:r>
            <a:r>
              <a:rPr dirty="0" err="1"/>
              <a:t>được</a:t>
            </a:r>
            <a:r>
              <a:rPr dirty="0"/>
              <a:t> </a:t>
            </a:r>
            <a:r>
              <a:rPr dirty="0" err="1"/>
              <a:t>lắng</a:t>
            </a:r>
            <a:r>
              <a:rPr dirty="0"/>
              <a:t> </a:t>
            </a:r>
            <a:r>
              <a:rPr dirty="0" err="1"/>
              <a:t>nghe</a:t>
            </a:r>
            <a:r>
              <a:rPr dirty="0"/>
              <a:t> </a:t>
            </a:r>
            <a:r>
              <a:rPr dirty="0" err="1"/>
              <a:t>những</a:t>
            </a:r>
            <a:r>
              <a:rPr dirty="0"/>
              <a:t> ý </a:t>
            </a:r>
            <a:r>
              <a:rPr dirty="0" err="1"/>
              <a:t>kiến</a:t>
            </a:r>
            <a:r>
              <a:rPr dirty="0"/>
              <a:t> </a:t>
            </a:r>
            <a:r>
              <a:rPr dirty="0" err="1"/>
              <a:t>đóng</a:t>
            </a:r>
            <a:r>
              <a:rPr dirty="0"/>
              <a:t> </a:t>
            </a:r>
            <a:r>
              <a:rPr dirty="0" err="1"/>
              <a:t>góp</a:t>
            </a:r>
            <a:r>
              <a:rPr dirty="0"/>
              <a:t> </a:t>
            </a:r>
            <a:r>
              <a:rPr dirty="0" err="1"/>
              <a:t>quý</a:t>
            </a:r>
            <a:r>
              <a:rPr dirty="0"/>
              <a:t> </a:t>
            </a:r>
            <a:r>
              <a:rPr dirty="0" err="1"/>
              <a:t>báu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sẵn</a:t>
            </a:r>
            <a:r>
              <a:rPr dirty="0"/>
              <a:t> </a:t>
            </a:r>
            <a:r>
              <a:rPr dirty="0" err="1"/>
              <a:t>sàng</a:t>
            </a:r>
            <a:r>
              <a:rPr dirty="0"/>
              <a:t> </a:t>
            </a:r>
            <a:r>
              <a:rPr dirty="0" err="1"/>
              <a:t>trả</a:t>
            </a:r>
            <a:r>
              <a:rPr dirty="0"/>
              <a:t> </a:t>
            </a:r>
            <a:r>
              <a:rPr dirty="0" err="1"/>
              <a:t>lời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câu</a:t>
            </a:r>
            <a:r>
              <a:rPr dirty="0"/>
              <a:t> </a:t>
            </a:r>
            <a:r>
              <a:rPr dirty="0" err="1"/>
              <a:t>hỏi</a:t>
            </a:r>
            <a:r>
              <a:rPr dirty="0"/>
              <a:t> </a:t>
            </a:r>
            <a:r>
              <a:rPr dirty="0" err="1"/>
              <a:t>phản</a:t>
            </a:r>
            <a:r>
              <a:rPr dirty="0"/>
              <a:t> </a:t>
            </a:r>
            <a:r>
              <a:rPr dirty="0" err="1"/>
              <a:t>biện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quý</a:t>
            </a:r>
            <a:r>
              <a:rPr dirty="0"/>
              <a:t> </a:t>
            </a:r>
            <a:r>
              <a:rPr dirty="0" err="1"/>
              <a:t>Thầy</a:t>
            </a:r>
            <a:r>
              <a:rPr dirty="0"/>
              <a:t> </a:t>
            </a:r>
            <a:r>
              <a:rPr dirty="0" err="1"/>
              <a:t>Cô</a:t>
            </a:r>
            <a:r>
              <a:rPr dirty="0"/>
              <a:t>. Em </a:t>
            </a:r>
            <a:r>
              <a:rPr dirty="0" err="1"/>
              <a:t>xin</a:t>
            </a:r>
            <a:r>
              <a:rPr dirty="0"/>
              <a:t> </a:t>
            </a:r>
            <a:r>
              <a:rPr dirty="0" err="1"/>
              <a:t>cảm</a:t>
            </a:r>
            <a:r>
              <a:rPr dirty="0"/>
              <a:t> </a:t>
            </a:r>
            <a:r>
              <a:rPr dirty="0" err="1"/>
              <a:t>ơn</a:t>
            </a:r>
            <a:r>
              <a:rPr dirty="0"/>
              <a:t>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A580C"/>
                </a:solidFill>
                <a:latin typeface="Segoe UI"/>
              </a:defRPr>
            </a:pPr>
            <a:r>
              <a:t>KHOA CÔNG NGHỆ THÔNG TIN - ITC  |  KHÓA K25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0F172A"/>
                </a:solidFill>
                <a:latin typeface="Segoe UI"/>
              </a:defRPr>
            </a:pPr>
            <a:r>
              <a:t>DRIVESHARE</a:t>
            </a:r>
          </a:p>
          <a:p>
            <a:pPr>
              <a:defRPr sz="2200" b="1">
                <a:solidFill>
                  <a:srgbClr val="0D9488"/>
                </a:solidFill>
                <a:latin typeface="Segoe UI"/>
              </a:defRPr>
            </a:pPr>
            <a:r>
              <a:t>Nền Tảng Cho Thuê Xe Tự Lái P2P Trực Tuyến</a:t>
            </a:r>
          </a:p>
          <a:p>
            <a:pPr>
              <a:defRPr sz="1450">
                <a:solidFill>
                  <a:srgbClr val="475569"/>
                </a:solidFill>
                <a:latin typeface="Segoe UI"/>
              </a:defRPr>
            </a:pPr>
            <a:r>
              <a:t>Spring Boot 3  •  PostgreSQL 16  •  VietQR Escrow 30%  •  Gemini AI Assistant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429000"/>
            <a:ext cx="4846320" cy="2880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320040" rIns="32004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1E3A8A"/>
                </a:solidFill>
                <a:latin typeface="Segoe UI"/>
              </a:defRPr>
            </a:pPr>
            <a:r>
              <a:rPr dirty="0"/>
              <a:t>GIẢNG VIÊN HƯỚNG DẪN</a:t>
            </a:r>
          </a:p>
          <a:p>
            <a:pPr>
              <a:spcAft>
                <a:spcPts val="1200"/>
              </a:spcAft>
              <a:defRPr sz="2000" b="1">
                <a:solidFill>
                  <a:srgbClr val="0F172A"/>
                </a:solidFill>
                <a:latin typeface="Segoe UI"/>
              </a:defRPr>
            </a:pPr>
            <a:r>
              <a:rPr dirty="0" err="1"/>
              <a:t>Thầy</a:t>
            </a:r>
            <a:r>
              <a:rPr dirty="0"/>
              <a:t> Trương Thanh Bình</a:t>
            </a:r>
          </a:p>
          <a:p>
            <a:pPr>
              <a:defRPr sz="1300">
                <a:solidFill>
                  <a:srgbClr val="475569"/>
                </a:solidFill>
                <a:latin typeface="Segoe UI"/>
              </a:defRPr>
            </a:pP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môn</a:t>
            </a:r>
            <a:r>
              <a:rPr dirty="0"/>
              <a:t>: Công </a:t>
            </a:r>
            <a:r>
              <a:rPr dirty="0" err="1"/>
              <a:t>nghệ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 </a:t>
            </a:r>
            <a:r>
              <a:rPr dirty="0" err="1"/>
              <a:t>mềm</a:t>
            </a:r>
            <a:br>
              <a:rPr dirty="0"/>
            </a:br>
            <a:r>
              <a:rPr dirty="0"/>
              <a:t>Trường Cao </a:t>
            </a:r>
            <a:r>
              <a:rPr dirty="0" err="1"/>
              <a:t>đẳng</a:t>
            </a:r>
            <a:r>
              <a:rPr dirty="0"/>
              <a:t> Công </a:t>
            </a:r>
            <a:r>
              <a:rPr dirty="0" err="1"/>
              <a:t>nghệ</a:t>
            </a:r>
            <a:r>
              <a:rPr dirty="0"/>
              <a:t> Thông tin TP.HCM (ITC)</a:t>
            </a:r>
            <a:br>
              <a:rPr dirty="0"/>
            </a:br>
            <a:r>
              <a:rPr dirty="0" err="1"/>
              <a:t>Niên</a:t>
            </a:r>
            <a:r>
              <a:rPr dirty="0"/>
              <a:t> </a:t>
            </a:r>
            <a:r>
              <a:rPr dirty="0" err="1"/>
              <a:t>khóa</a:t>
            </a:r>
            <a:r>
              <a:rPr dirty="0"/>
              <a:t>: 2025 - 2027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3429000"/>
            <a:ext cx="5212080" cy="2880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320040" rIns="32004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1E3A8A"/>
                </a:solidFill>
                <a:latin typeface="Segoe UI"/>
              </a:defRPr>
            </a:pPr>
            <a:r>
              <a:rPr dirty="0"/>
              <a:t>NHÓM THỰC HIỆN (6 THÀNH VIÊN)</a:t>
            </a:r>
          </a:p>
          <a:p>
            <a:pPr>
              <a:defRPr sz="1200">
                <a:solidFill>
                  <a:srgbClr val="0F172A"/>
                </a:solidFill>
                <a:latin typeface="Segoe UI"/>
              </a:defRPr>
            </a:pPr>
            <a:r>
              <a:rPr dirty="0"/>
              <a:t>•  Nguyễn Duy Bảo  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rPr dirty="0"/>
              <a:t>•  Nguyễn Chí </a:t>
            </a:r>
            <a:r>
              <a:rPr dirty="0" err="1"/>
              <a:t>Tín</a:t>
            </a:r>
            <a:r>
              <a:rPr dirty="0"/>
              <a:t>  </a:t>
            </a:r>
            <a:endParaRPr lang="vi-VN" dirty="0"/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rPr dirty="0"/>
              <a:t>•  Lâm Chí </a:t>
            </a:r>
            <a:r>
              <a:rPr dirty="0" err="1"/>
              <a:t>Vĩ</a:t>
            </a:r>
            <a:endParaRPr dirty="0"/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rPr dirty="0"/>
              <a:t>•  </a:t>
            </a:r>
            <a:r>
              <a:rPr dirty="0" err="1"/>
              <a:t>Đỗ</a:t>
            </a:r>
            <a:r>
              <a:rPr dirty="0"/>
              <a:t> Ngọc </a:t>
            </a:r>
            <a:r>
              <a:rPr dirty="0" err="1"/>
              <a:t>Phát</a:t>
            </a:r>
            <a:r>
              <a:rPr dirty="0"/>
              <a:t>  </a:t>
            </a:r>
            <a:endParaRPr lang="vi-VN" dirty="0"/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rPr dirty="0"/>
              <a:t>•  Nguyễn Duy Quân  </a:t>
            </a:r>
            <a:endParaRPr lang="vi-VN" dirty="0"/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rPr dirty="0"/>
              <a:t>•  </a:t>
            </a:r>
            <a:r>
              <a:rPr dirty="0" err="1"/>
              <a:t>NguyễnTấn</a:t>
            </a:r>
            <a:r>
              <a:rPr dirty="0"/>
              <a:t> </a:t>
            </a:r>
            <a:r>
              <a:rPr dirty="0" err="1"/>
              <a:t>Lộc</a:t>
            </a:r>
            <a:r>
              <a:rPr dirty="0"/>
              <a:t> Khiêm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EA580C"/>
                </a:solidFill>
                <a:latin typeface="Segoe UI"/>
              </a:rPr>
              <a:t>&gt;&gt;&gt;  </a:t>
            </a:r>
            <a:r>
              <a:rPr sz="2300" b="1">
                <a:solidFill>
                  <a:srgbClr val="0F172A"/>
                </a:solidFill>
                <a:latin typeface="Segoe UI"/>
              </a:rPr>
              <a:t>1.1  Bối Cảnh &amp; Một Vài Bất Cập Của Thuê Xe Truyền Thống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&gt; Nhu cầu thuê xe tự lái gia tăng nhanh nhưng phương thức truyền thống lộ rõ rủi ro: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4134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20040" rIns="32004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EA580C"/>
                </a:solidFill>
                <a:latin typeface="Segoe UI"/>
              </a:defRPr>
            </a:pPr>
            <a:r>
              <a:t>BẤT CẬP 01</a:t>
            </a:r>
          </a:p>
          <a:p>
            <a:pPr>
              <a:spcAft>
                <a:spcPts val="14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Rủi Ro Giữ Tài Sản</a:t>
            </a:r>
          </a:p>
          <a:p>
            <a:pPr>
              <a:spcAft>
                <a:spcPts val="9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•  Bắt buộc giữ CCCD gốc hoặc xe máy kèm cà-vẹt đắt tiền.</a:t>
            </a:r>
          </a:p>
          <a:p>
            <a:pPr>
              <a:spcAft>
                <a:spcPts val="9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•  Nguy cơ lộ lọt thông tin cá nhân và thiếu căn cứ pháp lý.</a:t>
            </a:r>
          </a:p>
          <a:p>
            <a:pPr>
              <a:spcAft>
                <a:spcPts val="9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•  Gây áp lực tâm lý và rào cản tài chính lớn cho khách thuê.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00200"/>
            <a:ext cx="34134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20040" rIns="32004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EA580C"/>
                </a:solidFill>
                <a:latin typeface="Segoe UI"/>
              </a:defRPr>
            </a:pPr>
            <a:r>
              <a:t>BẤT CẬP 02</a:t>
            </a:r>
          </a:p>
          <a:p>
            <a:pPr>
              <a:spcAft>
                <a:spcPts val="14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Tranh Chấp Hư Hỏng</a:t>
            </a:r>
          </a:p>
          <a:p>
            <a:pPr>
              <a:spcAft>
                <a:spcPts val="9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•  Không có quy trình nghiệm thu tình trạng xe minh bạch.</a:t>
            </a:r>
          </a:p>
          <a:p>
            <a:pPr>
              <a:spcAft>
                <a:spcPts val="9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•  Khách thuê dễ bị 'bắt đền oan' các vết xước có từ trước.</a:t>
            </a:r>
          </a:p>
          <a:p>
            <a:pPr>
              <a:spcAft>
                <a:spcPts val="9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•  Thiếu bằng chứng đối soát khi hai bên bàn giao chìa khóa.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00200"/>
            <a:ext cx="34134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20040" rIns="32004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EA580C"/>
                </a:solidFill>
                <a:latin typeface="Segoe UI"/>
              </a:defRPr>
            </a:pPr>
            <a:r>
              <a:t>BẤT CẬP 03</a:t>
            </a:r>
          </a:p>
          <a:p>
            <a:pPr>
              <a:spcAft>
                <a:spcPts val="14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Quản Lý Thủ Công</a:t>
            </a:r>
          </a:p>
          <a:p>
            <a:pPr>
              <a:spcAft>
                <a:spcPts val="9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•  Chốt đơn qua tin nhắn Zalo, sổ tay nên rất dễ quên lịch.</a:t>
            </a:r>
          </a:p>
          <a:p>
            <a:pPr>
              <a:spcAft>
                <a:spcPts val="9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•  Nguy cơ nhận cọc của 2 người cùng một ngày (Overbooking).</a:t>
            </a:r>
          </a:p>
          <a:p>
            <a:pPr>
              <a:spcAft>
                <a:spcPts val="9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•  Chưa có công cụ tự động hóa kiểm soát xe quá hạn hợp đồng.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EA580C"/>
                </a:solidFill>
                <a:latin typeface="Segoe UI"/>
              </a:rPr>
              <a:t>&gt;&gt;&gt;  </a:t>
            </a:r>
            <a:r>
              <a:rPr sz="2300" b="1">
                <a:solidFill>
                  <a:srgbClr val="0F172A"/>
                </a:solidFill>
                <a:latin typeface="Segoe UI"/>
              </a:rPr>
              <a:t>1.2  Bảng Đối Chuẩn Tiêu Chí: Mioto vs Zoomcar vs DriveShare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&gt; So sánh 5 tiêu chí nghiệp vụ cốt lõi giữa các nền tảng cho thuê xe: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0020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4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13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Tiêu Chí Nghiệp Vụ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Mioto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Zoomcar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DriveShare (Đề Tài K25)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Chính sách Cọc &amp; Giữ chỗ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100% tiền thuê chuyển khoản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Giữ qua Thẻ tín dụng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Ký quỹ 30% VietQR linh hoạt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Trợ lý ảo AI tư vấn 24/7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Không có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Không có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AI Gemini 2.5 Flash + Heuristic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Chặn lịch bận xe (Blackout)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Có hỗ trợ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Hạn chế tính năng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Chặn lịch bảo dưỡng chủ động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Biên bản bàn giao 2 chiều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Giấy tờ hoặc 1 bên duyệt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Nhân viên kiểm tra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Điện tử 2 chiều: ODO, Xăng, 6 ảnh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Chế tài quá hạn &amp; Điều 175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Tính phí giờ thủ công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Phạt theo giờ cố định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Tự động phạt 1.5x-2x &amp; Hồ sơ 1-click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EA580C"/>
                </a:solidFill>
                <a:latin typeface="Segoe UI"/>
              </a:rPr>
              <a:t>&gt;&gt;&gt;  </a:t>
            </a:r>
            <a:r>
              <a:rPr sz="2300" b="1">
                <a:solidFill>
                  <a:srgbClr val="0F172A"/>
                </a:solidFill>
                <a:latin typeface="Segoe UI"/>
              </a:rPr>
              <a:t>1.3  4 Mục Tiêu Cốt Lõi Của Đề Tài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&gt; Định hướng nghiên cứu và phát triển giải pháp toàn diện cho nền tảng: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242255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200"/>
              </a:spcAft>
              <a:defRPr sz="1150" b="1">
                <a:solidFill>
                  <a:srgbClr val="EA580C"/>
                </a:solidFill>
                <a:latin typeface="Segoe UI"/>
              </a:defRPr>
            </a:pPr>
            <a:r>
              <a:t>MỤC TIÊU 01</a:t>
            </a:r>
          </a:p>
          <a:p>
            <a:pPr>
              <a:spcAft>
                <a:spcPts val="5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Nền Tảng P2P An Toàn &amp; Tiện Lợi</a:t>
            </a:r>
          </a:p>
          <a:p>
            <a:pPr>
              <a:spcAft>
                <a:spcPts val="200"/>
              </a:spcAft>
              <a:defRPr sz="1250">
                <a:solidFill>
                  <a:srgbClr val="475569"/>
                </a:solidFill>
                <a:latin typeface="Segoe UI"/>
              </a:defRPr>
            </a:pPr>
            <a:r>
              <a:t>Xây dựng Web Fullstack Responsive kết nối trực tiếp xe nhàn rỗi và khách thuê với chi phí tối ưu nhất.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00200"/>
            <a:ext cx="5242255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200"/>
              </a:spcAft>
              <a:defRPr sz="1150" b="1">
                <a:solidFill>
                  <a:srgbClr val="EA580C"/>
                </a:solidFill>
                <a:latin typeface="Segoe UI"/>
              </a:defRPr>
            </a:pPr>
            <a:r>
              <a:t>MỤC TIÊU 02</a:t>
            </a:r>
          </a:p>
          <a:p>
            <a:pPr>
              <a:spcAft>
                <a:spcPts val="5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Bảo Vệ Tài Chính (Escrow 30%)</a:t>
            </a:r>
          </a:p>
          <a:p>
            <a:pPr>
              <a:spcAft>
                <a:spcPts val="200"/>
              </a:spcAft>
              <a:defRPr sz="1250">
                <a:solidFill>
                  <a:srgbClr val="475569"/>
                </a:solidFill>
                <a:latin typeface="Segoe UI"/>
              </a:defRPr>
            </a:pPr>
            <a:r>
              <a:t>Sàn đóng vai trò trung gian giữ cọc 30% qua VietQR, chỉ giải ngân cho chủ xe khi cuốc xe hoàn tất.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69080"/>
            <a:ext cx="5242255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200"/>
              </a:spcAft>
              <a:defRPr sz="1150" b="1">
                <a:solidFill>
                  <a:srgbClr val="EA580C"/>
                </a:solidFill>
                <a:latin typeface="Segoe UI"/>
              </a:defRPr>
            </a:pPr>
            <a:r>
              <a:t>MỤC TIÊU 03</a:t>
            </a:r>
          </a:p>
          <a:p>
            <a:pPr>
              <a:spcAft>
                <a:spcPts val="5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Triệt Tiêu Xung Đột Trùng Lịch</a:t>
            </a:r>
          </a:p>
          <a:p>
            <a:pPr>
              <a:spcAft>
                <a:spcPts val="200"/>
              </a:spcAft>
              <a:defRPr sz="1250">
                <a:solidFill>
                  <a:srgbClr val="475569"/>
                </a:solidFill>
                <a:latin typeface="Segoe UI"/>
              </a:defRPr>
            </a:pPr>
            <a:r>
              <a:t>Ứng dụng Khóa bi quan CSDL và Khóa 2 tầng (Two-Tier Lock) loại bỏ hoàn toàn nguy cơ đặt trùng xe.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69080"/>
            <a:ext cx="5242255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200"/>
              </a:spcAft>
              <a:defRPr sz="1150" b="1">
                <a:solidFill>
                  <a:srgbClr val="EA580C"/>
                </a:solidFill>
                <a:latin typeface="Segoe UI"/>
              </a:defRPr>
            </a:pPr>
            <a:r>
              <a:t>MỤC TIÊU 04</a:t>
            </a:r>
          </a:p>
          <a:p>
            <a:pPr>
              <a:spcAft>
                <a:spcPts val="5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Trợ Lý Ảo AI Thông Minh</a:t>
            </a:r>
          </a:p>
          <a:p>
            <a:pPr>
              <a:spcAft>
                <a:spcPts val="200"/>
              </a:spcAft>
              <a:defRPr sz="1250">
                <a:solidFill>
                  <a:srgbClr val="475569"/>
                </a:solidFill>
                <a:latin typeface="Segoe UI"/>
              </a:defRPr>
            </a:pPr>
            <a:r>
              <a:t>Tích hợp mô hình AI Google Gemini 2.5 Flash hỗ trợ khách tìm xe, tính giá cọc và giải đáp 24/7.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EA580C"/>
                </a:solidFill>
                <a:latin typeface="Segoe UI"/>
              </a:rPr>
              <a:t>&gt;&gt;&gt;  </a:t>
            </a:r>
            <a:r>
              <a:rPr sz="2300" b="1">
                <a:solidFill>
                  <a:srgbClr val="0F172A"/>
                </a:solidFill>
                <a:latin typeface="Segoe UI"/>
              </a:rPr>
              <a:t>2.1  Mô Hình Kiến Trúc Hệ Thống &amp; Tech Stack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&gt; Kiến trúc phân tầng Decoupled Client - Server tách biệt qua RESTful API: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3035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20040" rIns="320040" rtlCol="0" anchor="ctr"/>
          <a:lstStyle/>
          <a:p>
            <a:pPr algn="ctr">
              <a:spcAft>
                <a:spcPts val="1400"/>
              </a:spcAft>
              <a:defRPr sz="1600" b="1">
                <a:solidFill>
                  <a:srgbClr val="1E3A8A"/>
                </a:solidFill>
                <a:latin typeface="Segoe UI"/>
              </a:defRPr>
            </a:pPr>
            <a:r>
              <a:t>ĐẶC ĐIỂM KIẾN TRÚC CỐT LÕI</a:t>
            </a:r>
          </a:p>
          <a:p>
            <a:pPr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Kiến trúc Decoupled: Tách biệt Client - Server hoàn toàn qua chuẩn REST API.</a:t>
            </a:r>
          </a:p>
          <a:p>
            <a:pPr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Backend Core: Java 17/21, Spring Boot 3.3.4 Layered Modular (9 modules độc lập).</a:t>
            </a:r>
          </a:p>
          <a:p>
            <a:pPr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Cơ sở dữ liệu: PostgreSQL 16 Alpine đóng gói Docker (Port 5432) + Adminer.</a:t>
            </a:r>
          </a:p>
          <a:p>
            <a:pPr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Lưu trữ Hybrid: Ưu tiên Cloudinary CDN; tự động dự phòng ổ cứng cục bộ.</a:t>
            </a:r>
          </a:p>
          <a:p>
            <a:pPr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Trí tuệ nhân tạo: Google Gemini 2.5 Flash REST API + Chat Memory PostgreSQL.</a:t>
            </a:r>
          </a:p>
          <a:p>
            <a:pPr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Frontend Web: HTML5, CSS3, JavaScript ES6+, Bootstrap 5 tối ưu tải tĩnh.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19653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37960" y="1828800"/>
            <a:ext cx="4647895" cy="86868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PRESENTATION LAYER (CLIENT WEB)</a:t>
            </a:r>
          </a:p>
          <a:p>
            <a:pPr algn="ctr">
              <a:defRPr sz="1150" b="1">
                <a:solidFill>
                  <a:srgbClr val="0F172A"/>
                </a:solidFill>
                <a:latin typeface="Segoe UI"/>
              </a:defRPr>
            </a:pPr>
            <a:r>
              <a:t>HTML5 • CSS3 Modern • JavaScript ES6+ • Bootstrap 5</a:t>
            </a:r>
          </a:p>
        </p:txBody>
      </p:sp>
      <p:sp>
        <p:nvSpPr>
          <p:cNvPr id="7" name="Down Arrow 6"/>
          <p:cNvSpPr/>
          <p:nvPr/>
        </p:nvSpPr>
        <p:spPr>
          <a:xfrm>
            <a:off x="8641080" y="2788920"/>
            <a:ext cx="411480" cy="292608"/>
          </a:xfrm>
          <a:prstGeom prst="down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37960" y="3172968"/>
            <a:ext cx="4647895" cy="10972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BUSINESS LAYER (SPRING BOOT 3 REST API)</a:t>
            </a:r>
          </a:p>
          <a:p>
            <a:pPr algn="ctr">
              <a:defRPr sz="1100">
                <a:solidFill>
                  <a:srgbClr val="EEF2FF"/>
                </a:solidFill>
                <a:latin typeface="Segoe UI"/>
              </a:defRPr>
            </a:pPr>
            <a:r>
              <a:t>Spring Security 6 (JWT) • Spring Data JPA • 9 Modules Core</a:t>
            </a:r>
            <a:br/>
            <a:r>
              <a:t>ApiResponse&lt;T&gt; • GlobalExceptionHandler • Pessimistic Lock</a:t>
            </a:r>
          </a:p>
        </p:txBody>
      </p:sp>
      <p:sp>
        <p:nvSpPr>
          <p:cNvPr id="9" name="Down Arrow 8"/>
          <p:cNvSpPr/>
          <p:nvPr/>
        </p:nvSpPr>
        <p:spPr>
          <a:xfrm>
            <a:off x="8641080" y="4361688"/>
            <a:ext cx="411480" cy="292608"/>
          </a:xfrm>
          <a:prstGeom prst="down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537960" y="4736592"/>
            <a:ext cx="1490472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>
              <a:defRPr sz="1000" b="1">
                <a:solidFill>
                  <a:srgbClr val="1E3A8A"/>
                </a:solidFill>
                <a:latin typeface="Segoe UI"/>
              </a:defRPr>
            </a:pPr>
            <a:r>
              <a:t>POSTGRESQL 16</a:t>
            </a:r>
          </a:p>
          <a:p>
            <a:pPr algn="ctr">
              <a:defRPr sz="950">
                <a:solidFill>
                  <a:srgbClr val="475569"/>
                </a:solidFill>
                <a:latin typeface="Segoe UI"/>
              </a:defRPr>
            </a:pPr>
            <a:r>
              <a:t>Docker (Port 5432)</a:t>
            </a:r>
            <a:br/>
            <a:r>
              <a:t>15 Tables • 3NF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4736592"/>
            <a:ext cx="1490472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>
              <a:defRPr sz="1000" b="1">
                <a:solidFill>
                  <a:srgbClr val="1E3A8A"/>
                </a:solidFill>
                <a:latin typeface="Segoe UI"/>
              </a:defRPr>
            </a:pPr>
            <a:r>
              <a:t>CLOUDINARY CDN</a:t>
            </a:r>
          </a:p>
          <a:p>
            <a:pPr algn="ctr">
              <a:defRPr sz="950">
                <a:solidFill>
                  <a:srgbClr val="475569"/>
                </a:solidFill>
                <a:latin typeface="Segoe UI"/>
              </a:defRPr>
            </a:pPr>
            <a:r>
              <a:t>Lưu trữ hình ảnh xe</a:t>
            </a:r>
            <a:br/>
            <a:r>
              <a:t>Biên bản ODO 6 góc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01784" y="4736592"/>
            <a:ext cx="1490472" cy="1234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>
              <a:defRPr sz="1000" b="1">
                <a:solidFill>
                  <a:srgbClr val="1E3A8A"/>
                </a:solidFill>
                <a:latin typeface="Segoe UI"/>
              </a:defRPr>
            </a:pPr>
            <a:r>
              <a:t>GEMINI AI FLASH</a:t>
            </a:r>
          </a:p>
          <a:p>
            <a:pPr algn="ctr">
              <a:defRPr sz="950">
                <a:solidFill>
                  <a:srgbClr val="475569"/>
                </a:solidFill>
                <a:latin typeface="Segoe UI"/>
              </a:defRPr>
            </a:pPr>
            <a:r>
              <a:t>Tư vấn chọn xe 24/7</a:t>
            </a:r>
            <a:br/>
            <a:r>
              <a:t>Lưu vết chat_memory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EA580C"/>
                </a:solidFill>
                <a:latin typeface="Segoe UI"/>
              </a:rPr>
              <a:t>&gt;&gt;&gt;  </a:t>
            </a:r>
            <a:r>
              <a:rPr sz="2300" b="1">
                <a:solidFill>
                  <a:srgbClr val="0F172A"/>
                </a:solidFill>
                <a:latin typeface="Segoe UI"/>
              </a:rPr>
              <a:t>2.2  Thiết Kế Chức Năng Hệ Thống (Biểu Đồ Use Case)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&gt; Biểu đồ Use Case đặt xe &amp; vận hành thể hiện mối liên kết giữa Khách thuê, Chủ xe và Cổng VietQR: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452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usecase_booking_ope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1538" y="1691640"/>
            <a:ext cx="3408618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1722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75569"/>
                </a:solidFill>
                <a:latin typeface="Segoe UI"/>
              </a:defRPr>
            </a:pPr>
            <a:r>
              <a:t>Hình 2.2 Biểu đồ Use Case quy trình đặt xe và vận hành (Booking &amp; Operation) — Hệ thống DriveShare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6052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 dirty="0">
                <a:solidFill>
                  <a:srgbClr val="EA580C"/>
                </a:solidFill>
                <a:latin typeface="Segoe UI"/>
              </a:rPr>
              <a:t>&gt;&gt;&gt;  </a:t>
            </a:r>
            <a:r>
              <a:rPr sz="2300" b="1" dirty="0">
                <a:solidFill>
                  <a:srgbClr val="0F172A"/>
                </a:solidFill>
                <a:latin typeface="Segoe UI"/>
              </a:rPr>
              <a:t>2.3  </a:t>
            </a:r>
            <a:r>
              <a:rPr sz="2300" b="1" dirty="0" err="1">
                <a:solidFill>
                  <a:srgbClr val="0F172A"/>
                </a:solidFill>
                <a:latin typeface="Segoe UI"/>
              </a:rPr>
              <a:t>Thiết</a:t>
            </a:r>
            <a:r>
              <a:rPr sz="2300" b="1" dirty="0">
                <a:solidFill>
                  <a:srgbClr val="0F172A"/>
                </a:solidFill>
                <a:latin typeface="Segoe UI"/>
              </a:rPr>
              <a:t> </a:t>
            </a:r>
            <a:r>
              <a:rPr sz="2300" b="1" dirty="0" err="1">
                <a:solidFill>
                  <a:srgbClr val="0F172A"/>
                </a:solidFill>
                <a:latin typeface="Segoe UI"/>
              </a:rPr>
              <a:t>Kế</a:t>
            </a:r>
            <a:r>
              <a:rPr sz="2300" b="1" dirty="0">
                <a:solidFill>
                  <a:srgbClr val="0F172A"/>
                </a:solidFill>
                <a:latin typeface="Segoe UI"/>
              </a:rPr>
              <a:t> </a:t>
            </a:r>
            <a:r>
              <a:rPr sz="2300" b="1" dirty="0" err="1">
                <a:solidFill>
                  <a:srgbClr val="0F172A"/>
                </a:solidFill>
                <a:latin typeface="Segoe UI"/>
              </a:rPr>
              <a:t>Cơ</a:t>
            </a:r>
            <a:r>
              <a:rPr sz="2300" b="1" dirty="0">
                <a:solidFill>
                  <a:srgbClr val="0F172A"/>
                </a:solidFill>
                <a:latin typeface="Segoe UI"/>
              </a:rPr>
              <a:t> </a:t>
            </a:r>
            <a:r>
              <a:rPr sz="2300" b="1" dirty="0" err="1">
                <a:solidFill>
                  <a:srgbClr val="0F172A"/>
                </a:solidFill>
                <a:latin typeface="Segoe UI"/>
              </a:rPr>
              <a:t>Sở</a:t>
            </a:r>
            <a:r>
              <a:rPr sz="2300" b="1" dirty="0">
                <a:solidFill>
                  <a:srgbClr val="0F172A"/>
                </a:solidFill>
                <a:latin typeface="Segoe UI"/>
              </a:rPr>
              <a:t> </a:t>
            </a:r>
            <a:r>
              <a:rPr sz="2300" b="1" dirty="0" err="1">
                <a:solidFill>
                  <a:srgbClr val="0F172A"/>
                </a:solidFill>
                <a:latin typeface="Segoe UI"/>
              </a:rPr>
              <a:t>Dữ</a:t>
            </a:r>
            <a:r>
              <a:rPr sz="2300" b="1" dirty="0">
                <a:solidFill>
                  <a:srgbClr val="0F172A"/>
                </a:solidFill>
                <a:latin typeface="Segoe UI"/>
              </a:rPr>
              <a:t> Liệu </a:t>
            </a:r>
            <a:r>
              <a:rPr sz="2300" b="1" dirty="0" err="1">
                <a:solidFill>
                  <a:srgbClr val="0F172A"/>
                </a:solidFill>
                <a:latin typeface="Segoe UI"/>
              </a:rPr>
              <a:t>Phía</a:t>
            </a:r>
            <a:r>
              <a:rPr sz="2300" b="1" dirty="0">
                <a:solidFill>
                  <a:srgbClr val="0F172A"/>
                </a:solidFill>
                <a:latin typeface="Segoe UI"/>
              </a:rPr>
              <a:t> Server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rPr dirty="0"/>
              <a:t>&gt; </a:t>
            </a:r>
            <a:r>
              <a:rPr dirty="0" err="1"/>
              <a:t>Xây</a:t>
            </a:r>
            <a:r>
              <a:rPr dirty="0"/>
              <a:t> </a:t>
            </a:r>
            <a:r>
              <a:rPr dirty="0" err="1"/>
              <a:t>dựng</a:t>
            </a:r>
            <a:r>
              <a:rPr dirty="0"/>
              <a:t> </a:t>
            </a:r>
            <a:r>
              <a:rPr dirty="0" err="1"/>
              <a:t>cơ</a:t>
            </a:r>
            <a:r>
              <a:rPr dirty="0"/>
              <a:t> </a:t>
            </a:r>
            <a:r>
              <a:rPr dirty="0" err="1"/>
              <a:t>sở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sử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PostgreSQL 16 (15 </a:t>
            </a:r>
            <a:r>
              <a:rPr dirty="0" err="1"/>
              <a:t>bảng</a:t>
            </a:r>
            <a:r>
              <a:rPr dirty="0"/>
              <a:t>):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452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ore_database_tab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262" y="1691640"/>
            <a:ext cx="936117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1722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75569"/>
                </a:solidFill>
                <a:latin typeface="Segoe UI"/>
              </a:defRPr>
            </a:pPr>
            <a:r>
              <a:rPr dirty="0" err="1"/>
              <a:t>Hình</a:t>
            </a:r>
            <a:r>
              <a:rPr dirty="0"/>
              <a:t> 2.3 </a:t>
            </a:r>
            <a:r>
              <a:rPr dirty="0" err="1"/>
              <a:t>Cấu</a:t>
            </a:r>
            <a:r>
              <a:rPr dirty="0"/>
              <a:t> </a:t>
            </a:r>
            <a:r>
              <a:rPr dirty="0" err="1"/>
              <a:t>trúc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bảng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hạt</a:t>
            </a:r>
            <a:r>
              <a:rPr dirty="0"/>
              <a:t> </a:t>
            </a:r>
            <a:r>
              <a:rPr dirty="0" err="1"/>
              <a:t>nhân</a:t>
            </a:r>
            <a:r>
              <a:rPr dirty="0"/>
              <a:t> </a:t>
            </a:r>
            <a:r>
              <a:rPr dirty="0" err="1"/>
              <a:t>trong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 CSDL </a:t>
            </a:r>
            <a:r>
              <a:rPr dirty="0" err="1"/>
              <a:t>DriveShare</a:t>
            </a:r>
            <a:r>
              <a:rPr dirty="0"/>
              <a:t> (users, cars, rentals, payments)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EA580C"/>
                </a:solidFill>
                <a:latin typeface="Segoe UI"/>
              </a:rPr>
              <a:t>&gt;&gt;&gt;  </a:t>
            </a:r>
            <a:r>
              <a:rPr sz="2300" b="1">
                <a:solidFill>
                  <a:srgbClr val="0F172A"/>
                </a:solidFill>
                <a:latin typeface="Segoe UI"/>
              </a:rPr>
              <a:t>2.4  Vòng Đời Đơn Thuê &amp; Ký Quỹ VietQR (State Machine)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&gt; Chu trình điều khiển trạng thái tự động loại bỏ lỗi Overbooking và bảo vệ dòng tiền cọc: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452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VietQR Rental Booking Lifecycle-2026-10-28-1505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986" y="1691640"/>
            <a:ext cx="4475721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1722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75569"/>
                </a:solidFill>
                <a:latin typeface="Segoe UI"/>
              </a:defRPr>
            </a:pPr>
            <a:r>
              <a:t>Hình 2.4 Máy trạng thái điều khiển vòng đời đơn thuê và ký quỹ cọc VietQR 30% — DriveShare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6052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 dirty="0">
                <a:solidFill>
                  <a:srgbClr val="EA580C"/>
                </a:solidFill>
                <a:latin typeface="Segoe UI"/>
              </a:rPr>
              <a:t>&gt;&gt;&gt;  </a:t>
            </a:r>
            <a:r>
              <a:rPr sz="2300" b="1" dirty="0">
                <a:solidFill>
                  <a:srgbClr val="0F172A"/>
                </a:solidFill>
                <a:latin typeface="Segoe UI"/>
              </a:rPr>
              <a:t>2.5 </a:t>
            </a:r>
            <a:r>
              <a:rPr sz="2300" b="1" dirty="0" err="1">
                <a:solidFill>
                  <a:srgbClr val="0F172A"/>
                </a:solidFill>
                <a:latin typeface="Segoe UI"/>
              </a:rPr>
              <a:t>Kỹ</a:t>
            </a:r>
            <a:r>
              <a:rPr sz="2300" b="1" dirty="0">
                <a:solidFill>
                  <a:srgbClr val="0F172A"/>
                </a:solidFill>
                <a:latin typeface="Segoe UI"/>
              </a:rPr>
              <a:t> </a:t>
            </a:r>
            <a:r>
              <a:rPr sz="2300" b="1" dirty="0" err="1">
                <a:solidFill>
                  <a:srgbClr val="0F172A"/>
                </a:solidFill>
                <a:latin typeface="Segoe UI"/>
              </a:rPr>
              <a:t>Thuật</a:t>
            </a:r>
            <a:r>
              <a:rPr sz="2300" b="1" dirty="0">
                <a:solidFill>
                  <a:srgbClr val="0F172A"/>
                </a:solidFill>
                <a:latin typeface="Segoe UI"/>
              </a:rPr>
              <a:t>: </a:t>
            </a:r>
            <a:r>
              <a:rPr sz="2300" b="1" dirty="0" err="1">
                <a:solidFill>
                  <a:srgbClr val="0F172A"/>
                </a:solidFill>
                <a:latin typeface="Segoe UI"/>
              </a:rPr>
              <a:t>Khóa</a:t>
            </a:r>
            <a:r>
              <a:rPr sz="2300" b="1" dirty="0">
                <a:solidFill>
                  <a:srgbClr val="0F172A"/>
                </a:solidFill>
                <a:latin typeface="Segoe UI"/>
              </a:rPr>
              <a:t> Bi Quan PESSIMISTIC_WRITE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rPr dirty="0"/>
              <a:t>&gt; </a:t>
            </a:r>
            <a:r>
              <a:rPr dirty="0" err="1"/>
              <a:t>Cơ</a:t>
            </a:r>
            <a:r>
              <a:rPr dirty="0"/>
              <a:t> </a:t>
            </a:r>
            <a:r>
              <a:rPr dirty="0" err="1"/>
              <a:t>chế</a:t>
            </a:r>
            <a:r>
              <a:rPr dirty="0"/>
              <a:t> </a:t>
            </a:r>
            <a:r>
              <a:rPr dirty="0" err="1"/>
              <a:t>chống</a:t>
            </a:r>
            <a:r>
              <a:rPr dirty="0"/>
              <a:t> </a:t>
            </a:r>
            <a:r>
              <a:rPr dirty="0" err="1"/>
              <a:t>xung</a:t>
            </a:r>
            <a:r>
              <a:rPr dirty="0"/>
              <a:t> </a:t>
            </a:r>
            <a:r>
              <a:rPr dirty="0" err="1"/>
              <a:t>đột</a:t>
            </a:r>
            <a:r>
              <a:rPr dirty="0"/>
              <a:t> </a:t>
            </a:r>
            <a:r>
              <a:rPr dirty="0" err="1"/>
              <a:t>đồng</a:t>
            </a:r>
            <a:r>
              <a:rPr dirty="0"/>
              <a:t> </a:t>
            </a:r>
            <a:r>
              <a:rPr dirty="0" err="1"/>
              <a:t>thời</a:t>
            </a:r>
            <a:r>
              <a:rPr dirty="0"/>
              <a:t> (Race Condition) </a:t>
            </a:r>
            <a:r>
              <a:rPr dirty="0" err="1"/>
              <a:t>triệt</a:t>
            </a:r>
            <a:r>
              <a:rPr dirty="0"/>
              <a:t> </a:t>
            </a:r>
            <a:r>
              <a:rPr dirty="0" err="1"/>
              <a:t>để</a:t>
            </a:r>
            <a:r>
              <a:rPr dirty="0"/>
              <a:t> ở </a:t>
            </a:r>
            <a:r>
              <a:rPr dirty="0" err="1"/>
              <a:t>tầng</a:t>
            </a:r>
            <a:r>
              <a:rPr dirty="0"/>
              <a:t> CSDL: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3035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20040" rIns="320040" rtlCol="0" anchor="ctr"/>
          <a:lstStyle/>
          <a:p>
            <a:pPr algn="ctr">
              <a:spcAft>
                <a:spcPts val="1400"/>
              </a:spcAft>
              <a:defRPr sz="1600" b="1">
                <a:solidFill>
                  <a:srgbClr val="1E3A8A"/>
                </a:solidFill>
                <a:latin typeface="Segoe UI"/>
              </a:defRPr>
            </a:pPr>
            <a:r>
              <a:t>GIẢI PHÁP CHỐNG XUNG ĐỘT ĐỒNG THỜI</a:t>
            </a:r>
          </a:p>
          <a:p>
            <a:pPr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Vấn đề Race Condition: Nhiều luồng cùng duyệt giữ xe hoặc cùng hoàn cọc gây lỗi trùng lặp.</a:t>
            </a:r>
          </a:p>
          <a:p>
            <a:pPr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Giải pháp trong code: Áp dụng @Lock(LockModeType.PESSIMISTIC_WRITE) tại CarRepository.</a:t>
            </a:r>
          </a:p>
          <a:p>
            <a:pPr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Cơ chế SQL: Phát sinh lệnh SELECT ... FOR UPDATE khóa độc quyền bản ghi ở tầng CSDL.</a:t>
            </a:r>
          </a:p>
          <a:p>
            <a:pPr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An toàn tuyệt đối: Giữ khóa cho đến khi commit transaction; loại bỏ 100% nguy cơ Overbooking.</a:t>
            </a:r>
          </a:p>
          <a:p>
            <a:pPr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Hoàn cọc Idempotent: Khóa bản ghi khiếu nại tại RentalDisputeRepository chống hoàn tiền 2 lần.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196535" cy="466344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20040" rIns="320040" rtlCol="0" anchor="ctr"/>
          <a:lstStyle/>
          <a:p>
            <a:pPr algn="ctr">
              <a:spcAft>
                <a:spcPts val="400"/>
              </a:spcAft>
              <a:defRPr sz="1200">
                <a:solidFill>
                  <a:srgbClr val="475569"/>
                </a:solidFill>
                <a:latin typeface="Consolas"/>
              </a:defRPr>
            </a:pPr>
            <a:r>
              <a:t>// CarRepository.java (Spring Data JPA)</a:t>
            </a:r>
          </a:p>
          <a:p>
            <a:pPr>
              <a:spcAft>
                <a:spcPts val="200"/>
              </a:spcAft>
              <a:defRPr sz="1300" b="1">
                <a:solidFill>
                  <a:srgbClr val="FACC15"/>
                </a:solidFill>
                <a:latin typeface="Consolas"/>
              </a:defRPr>
            </a:pPr>
            <a:r>
              <a:t>@Lock(LockModeType.PESSIMISTIC_WRITE)</a:t>
            </a:r>
          </a:p>
          <a:p>
            <a:pPr>
              <a:spcAft>
                <a:spcPts val="200"/>
              </a:spcAft>
              <a:defRPr sz="1200">
                <a:solidFill>
                  <a:srgbClr val="4ADE80"/>
                </a:solidFill>
                <a:latin typeface="Consolas"/>
              </a:defRPr>
            </a:pPr>
            <a:r>
              <a:t>@Query("SELECT c FROM Car c WHERE c.id = :id")</a:t>
            </a:r>
          </a:p>
          <a:p>
            <a:pPr>
              <a:spcAft>
                <a:spcPts val="1600"/>
              </a:spcAft>
              <a:defRPr sz="1250">
                <a:solidFill>
                  <a:srgbClr val="FFFFFF"/>
                </a:solidFill>
                <a:latin typeface="Consolas"/>
              </a:defRPr>
            </a:pPr>
            <a:r>
              <a:t>Optional&lt;Car&gt; findCarForUpdate(@Param("id") Long id);</a:t>
            </a:r>
          </a:p>
          <a:p>
            <a:pPr>
              <a:spcAft>
                <a:spcPts val="400"/>
              </a:spcAft>
              <a:defRPr sz="1150">
                <a:solidFill>
                  <a:srgbClr val="475569"/>
                </a:solidFill>
                <a:latin typeface="Consolas"/>
              </a:defRPr>
            </a:pPr>
            <a:r>
              <a:t>-- SQL Generated by Hibernate (PostgreSQL 16):</a:t>
            </a:r>
          </a:p>
          <a:p>
            <a:pPr>
              <a:spcAft>
                <a:spcPts val="1600"/>
              </a:spcAft>
              <a:defRPr sz="1200" b="1">
                <a:solidFill>
                  <a:srgbClr val="FACC15"/>
                </a:solidFill>
                <a:latin typeface="Consolas"/>
              </a:defRPr>
            </a:pPr>
            <a:r>
              <a:t>SELECT c1_0.id, c1_0.license_plate, c1_0.price</a:t>
            </a:r>
            <a:br/>
            <a:r>
              <a:t>FROM cars c1_0</a:t>
            </a:r>
            <a:br/>
            <a:r>
              <a:t>WHERE c1_0.id = ?</a:t>
            </a:r>
            <a:br/>
            <a:r>
              <a:t>FOR UPDATE;</a:t>
            </a:r>
          </a:p>
          <a:p>
            <a:pPr>
              <a:defRPr sz="1200">
                <a:solidFill>
                  <a:srgbClr val="4ADE80"/>
                </a:solidFill>
                <a:latin typeface="Segoe UI"/>
              </a:defRPr>
            </a:pPr>
            <a:r>
              <a:t>=&gt; Khóa độc quyền hàng dữ liệu ngay lập tức.</a:t>
            </a:r>
            <a:br/>
            <a:r>
              <a:t>=&gt; Luồng thứ 2 phải xếp hàng chờ cho đến khi commit.</a:t>
            </a:r>
            <a:br/>
            <a:r>
              <a:t>=&gt; Triệt tiêu 100% rủi ro Overbooking!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6052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 dirty="0">
                <a:solidFill>
                  <a:srgbClr val="EA580C"/>
                </a:solidFill>
                <a:latin typeface="Segoe UI"/>
              </a:rPr>
              <a:t>&gt;&gt;&gt;  </a:t>
            </a:r>
            <a:r>
              <a:rPr sz="2300" b="1" dirty="0">
                <a:solidFill>
                  <a:srgbClr val="0F172A"/>
                </a:solidFill>
                <a:latin typeface="Segoe UI"/>
              </a:rPr>
              <a:t>2.6 </a:t>
            </a:r>
            <a:r>
              <a:rPr sz="2300" b="1" dirty="0" err="1">
                <a:solidFill>
                  <a:srgbClr val="0F172A"/>
                </a:solidFill>
                <a:latin typeface="Segoe UI"/>
              </a:rPr>
              <a:t>Kỹ</a:t>
            </a:r>
            <a:r>
              <a:rPr sz="2300" b="1" dirty="0">
                <a:solidFill>
                  <a:srgbClr val="0F172A"/>
                </a:solidFill>
                <a:latin typeface="Segoe UI"/>
              </a:rPr>
              <a:t> </a:t>
            </a:r>
            <a:r>
              <a:rPr sz="2300" b="1" dirty="0" err="1">
                <a:solidFill>
                  <a:srgbClr val="0F172A"/>
                </a:solidFill>
                <a:latin typeface="Segoe UI"/>
              </a:rPr>
              <a:t>Thuật</a:t>
            </a:r>
            <a:r>
              <a:rPr sz="2300" b="1" dirty="0">
                <a:solidFill>
                  <a:srgbClr val="0F172A"/>
                </a:solidFill>
                <a:latin typeface="Segoe UI"/>
              </a:rPr>
              <a:t>: </a:t>
            </a:r>
            <a:r>
              <a:rPr sz="2300" b="1" dirty="0" err="1">
                <a:solidFill>
                  <a:srgbClr val="0F172A"/>
                </a:solidFill>
                <a:latin typeface="Segoe UI"/>
              </a:rPr>
              <a:t>Cơ</a:t>
            </a:r>
            <a:r>
              <a:rPr sz="2300" b="1" dirty="0">
                <a:solidFill>
                  <a:srgbClr val="0F172A"/>
                </a:solidFill>
                <a:latin typeface="Segoe UI"/>
              </a:rPr>
              <a:t> </a:t>
            </a:r>
            <a:r>
              <a:rPr sz="2300" b="1" dirty="0" err="1">
                <a:solidFill>
                  <a:srgbClr val="0F172A"/>
                </a:solidFill>
                <a:latin typeface="Segoe UI"/>
              </a:rPr>
              <a:t>Chế</a:t>
            </a:r>
            <a:r>
              <a:rPr sz="2300" b="1" dirty="0">
                <a:solidFill>
                  <a:srgbClr val="0F172A"/>
                </a:solidFill>
                <a:latin typeface="Segoe UI"/>
              </a:rPr>
              <a:t> </a:t>
            </a:r>
            <a:r>
              <a:rPr sz="2300" b="1" dirty="0" err="1">
                <a:solidFill>
                  <a:srgbClr val="0F172A"/>
                </a:solidFill>
                <a:latin typeface="Segoe UI"/>
              </a:rPr>
              <a:t>Khóa</a:t>
            </a:r>
            <a:r>
              <a:rPr sz="2300" b="1" dirty="0">
                <a:solidFill>
                  <a:srgbClr val="0F172A"/>
                </a:solidFill>
                <a:latin typeface="Segoe UI"/>
              </a:rPr>
              <a:t> 2 </a:t>
            </a:r>
            <a:r>
              <a:rPr sz="2300" b="1" dirty="0" err="1">
                <a:solidFill>
                  <a:srgbClr val="0F172A"/>
                </a:solidFill>
                <a:latin typeface="Segoe UI"/>
              </a:rPr>
              <a:t>Tầng</a:t>
            </a:r>
            <a:r>
              <a:rPr sz="2300" b="1" dirty="0">
                <a:solidFill>
                  <a:srgbClr val="0F172A"/>
                </a:solidFill>
                <a:latin typeface="Segoe UI"/>
              </a:rPr>
              <a:t> (Two-Tier Locking)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rPr dirty="0"/>
              <a:t>&gt; </a:t>
            </a:r>
            <a:r>
              <a:rPr dirty="0" err="1"/>
              <a:t>Sơ</a:t>
            </a:r>
            <a:r>
              <a:rPr dirty="0"/>
              <a:t> </a:t>
            </a:r>
            <a:r>
              <a:rPr dirty="0" err="1"/>
              <a:t>đồ</a:t>
            </a:r>
            <a:r>
              <a:rPr dirty="0"/>
              <a:t> </a:t>
            </a:r>
            <a:r>
              <a:rPr dirty="0" err="1"/>
              <a:t>tuần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quy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</a:t>
            </a:r>
            <a:r>
              <a:rPr dirty="0" err="1"/>
              <a:t>đặt</a:t>
            </a:r>
            <a:r>
              <a:rPr dirty="0"/>
              <a:t> </a:t>
            </a:r>
            <a:r>
              <a:rPr dirty="0" err="1"/>
              <a:t>xe</a:t>
            </a:r>
            <a:r>
              <a:rPr dirty="0"/>
              <a:t>, </a:t>
            </a:r>
            <a:r>
              <a:rPr dirty="0" err="1"/>
              <a:t>ký</a:t>
            </a:r>
            <a:r>
              <a:rPr dirty="0"/>
              <a:t> </a:t>
            </a:r>
            <a:r>
              <a:rPr dirty="0" err="1"/>
              <a:t>quỹ</a:t>
            </a:r>
            <a:r>
              <a:rPr dirty="0"/>
              <a:t> </a:t>
            </a:r>
            <a:r>
              <a:rPr dirty="0" err="1"/>
              <a:t>cọc</a:t>
            </a:r>
            <a:r>
              <a:rPr dirty="0"/>
              <a:t> 30% </a:t>
            </a:r>
            <a:r>
              <a:rPr dirty="0" err="1"/>
              <a:t>VietQR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phục</a:t>
            </a:r>
            <a:r>
              <a:rPr dirty="0"/>
              <a:t> </a:t>
            </a:r>
            <a:r>
              <a:rPr dirty="0" err="1"/>
              <a:t>hồi</a:t>
            </a:r>
            <a:r>
              <a:rPr dirty="0"/>
              <a:t> </a:t>
            </a: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chờ</a:t>
            </a:r>
            <a:r>
              <a:rPr dirty="0"/>
              <a:t>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19" y="1615440"/>
            <a:ext cx="10728655" cy="452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4_sequence_booking_and_depos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660" y="1615440"/>
            <a:ext cx="3483305" cy="43591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1722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75569"/>
                </a:solidFill>
                <a:latin typeface="Segoe UI"/>
              </a:defRPr>
            </a:pPr>
            <a:r>
              <a:t>Hình 2.6 Sơ đồ tuần tự quy trình đặt xe và khóa 2 tầng (Soft Lock 45m &amp; Hard Lock Ký Quỹ) — DriveShare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60529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 dirty="0">
                <a:solidFill>
                  <a:srgbClr val="EA580C"/>
                </a:solidFill>
                <a:latin typeface="Segoe UI"/>
              </a:rPr>
              <a:t>&gt;&gt;&gt;  </a:t>
            </a:r>
            <a:r>
              <a:rPr sz="2300" b="1" dirty="0">
                <a:solidFill>
                  <a:srgbClr val="0F172A"/>
                </a:solidFill>
                <a:latin typeface="Segoe UI"/>
              </a:rPr>
              <a:t>2.7 </a:t>
            </a:r>
            <a:r>
              <a:rPr sz="2300" b="1" dirty="0" err="1">
                <a:solidFill>
                  <a:srgbClr val="0F172A"/>
                </a:solidFill>
                <a:latin typeface="Segoe UI"/>
              </a:rPr>
              <a:t>Kỹ</a:t>
            </a:r>
            <a:r>
              <a:rPr sz="2300" b="1" dirty="0">
                <a:solidFill>
                  <a:srgbClr val="0F172A"/>
                </a:solidFill>
                <a:latin typeface="Segoe UI"/>
              </a:rPr>
              <a:t> </a:t>
            </a:r>
            <a:r>
              <a:rPr sz="2300" b="1" dirty="0" err="1">
                <a:solidFill>
                  <a:srgbClr val="0F172A"/>
                </a:solidFill>
                <a:latin typeface="Segoe UI"/>
              </a:rPr>
              <a:t>Thuật</a:t>
            </a:r>
            <a:r>
              <a:rPr sz="2300" b="1" dirty="0">
                <a:solidFill>
                  <a:srgbClr val="0F172A"/>
                </a:solidFill>
                <a:latin typeface="Segoe UI"/>
              </a:rPr>
              <a:t>: Bảo </a:t>
            </a:r>
            <a:r>
              <a:rPr sz="2300" b="1" dirty="0" err="1">
                <a:solidFill>
                  <a:srgbClr val="0F172A"/>
                </a:solidFill>
                <a:latin typeface="Segoe UI"/>
              </a:rPr>
              <a:t>Mật</a:t>
            </a:r>
            <a:r>
              <a:rPr sz="2300" b="1" dirty="0">
                <a:solidFill>
                  <a:srgbClr val="0F172A"/>
                </a:solidFill>
                <a:latin typeface="Segoe UI"/>
              </a:rPr>
              <a:t> JWT &amp; AI Hybrid </a:t>
            </a:r>
            <a:r>
              <a:rPr sz="2300" b="1" dirty="0" err="1">
                <a:solidFill>
                  <a:srgbClr val="0F172A"/>
                </a:solidFill>
                <a:latin typeface="Segoe UI"/>
              </a:rPr>
              <a:t>Chịu</a:t>
            </a:r>
            <a:r>
              <a:rPr sz="2300" b="1" dirty="0">
                <a:solidFill>
                  <a:srgbClr val="0F172A"/>
                </a:solidFill>
                <a:latin typeface="Segoe UI"/>
              </a:rPr>
              <a:t> </a:t>
            </a:r>
            <a:r>
              <a:rPr sz="2300" b="1" dirty="0" err="1">
                <a:solidFill>
                  <a:srgbClr val="0F172A"/>
                </a:solidFill>
                <a:latin typeface="Segoe UI"/>
              </a:rPr>
              <a:t>Lỗi</a:t>
            </a:r>
            <a:endParaRPr sz="2300" b="1" dirty="0">
              <a:solidFill>
                <a:srgbClr val="0F172A"/>
              </a:solidFill>
              <a:latin typeface="Segoe UI"/>
            </a:endParaRP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rPr dirty="0"/>
              <a:t>&gt; </a:t>
            </a:r>
            <a:r>
              <a:rPr dirty="0" err="1"/>
              <a:t>Cơ</a:t>
            </a:r>
            <a:r>
              <a:rPr dirty="0"/>
              <a:t> </a:t>
            </a:r>
            <a:r>
              <a:rPr dirty="0" err="1"/>
              <a:t>chế</a:t>
            </a:r>
            <a:r>
              <a:rPr dirty="0"/>
              <a:t> bảo </a:t>
            </a:r>
            <a:r>
              <a:rPr dirty="0" err="1"/>
              <a:t>mật</a:t>
            </a:r>
            <a:r>
              <a:rPr dirty="0"/>
              <a:t> </a:t>
            </a:r>
            <a:r>
              <a:rPr dirty="0" err="1"/>
              <a:t>phiên</a:t>
            </a:r>
            <a:r>
              <a:rPr dirty="0"/>
              <a:t> Stateless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AI </a:t>
            </a:r>
            <a:r>
              <a:rPr dirty="0" err="1"/>
              <a:t>hoạt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tin </a:t>
            </a:r>
            <a:r>
              <a:rPr dirty="0" err="1"/>
              <a:t>cậy</a:t>
            </a:r>
            <a:r>
              <a:rPr dirty="0"/>
              <a:t> </a:t>
            </a:r>
            <a:r>
              <a:rPr dirty="0" err="1"/>
              <a:t>cả</a:t>
            </a:r>
            <a:r>
              <a:rPr dirty="0"/>
              <a:t> Online </a:t>
            </a:r>
            <a:r>
              <a:rPr dirty="0" err="1"/>
              <a:t>lẫn</a:t>
            </a:r>
            <a:r>
              <a:rPr dirty="0"/>
              <a:t> Offline: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3035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20040" rIns="320040" rtlCol="0" anchor="ctr"/>
          <a:lstStyle/>
          <a:p>
            <a:pPr algn="ctr">
              <a:spcAft>
                <a:spcPts val="1400"/>
              </a:spcAft>
              <a:defRPr sz="1600" b="1">
                <a:solidFill>
                  <a:srgbClr val="1E3A8A"/>
                </a:solidFill>
                <a:latin typeface="Segoe UI"/>
              </a:defRPr>
            </a:pPr>
            <a:r>
              <a:t>AN TOÀN BẢO MẬT &amp; FAULT-TOLERANCE</a:t>
            </a:r>
          </a:p>
          <a:p>
            <a:pPr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Stateless JWT: Dùng jjwt 0.12.6, mã hóa mật khẩu BCrypt, phân quyền phương thức RBAC.</a:t>
            </a:r>
          </a:p>
          <a:p>
            <a:pPr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Token Versioning: Trường token_version giúp thu hồi token tức thì ngay khi đổi mật khẩu.</a:t>
            </a:r>
          </a:p>
          <a:p>
            <a:pPr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Chống Brute-force: Tự động khóa tài khoản locked_until sau 5 lần nhập sai mật khẩu liên tiếp.</a:t>
            </a:r>
          </a:p>
          <a:p>
            <a:pPr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Google Gemini 2.5 Flash: Kết nối REST API trực tiếp qua Java HttpClient kèm ngữ cảnh CSDL.</a:t>
            </a:r>
          </a:p>
          <a:p>
            <a:pPr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Heuristic Regex Fallback: Tự động bóc tách ngày, giá, số chỗ khi mất mạng hoặc chưa có API Key.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19653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2_ai_chatbot_dia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2228135"/>
            <a:ext cx="4846320" cy="340756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EA580C"/>
                </a:solidFill>
                <a:latin typeface="Segoe UI"/>
              </a:rPr>
              <a:t>&gt;&gt;&gt;  </a:t>
            </a:r>
            <a:r>
              <a:rPr sz="2300" b="1">
                <a:solidFill>
                  <a:srgbClr val="0F172A"/>
                </a:solidFill>
                <a:latin typeface="Segoe UI"/>
              </a:rPr>
              <a:t>3.1  Kết Quả Thực Nghiệm: Phân Hệ Khách Thuê (Renter)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&gt; Giao diện Mobile Responsive trực quan, tối ưu hành trình trải nghiệm người dùng: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383280" cy="4343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mobile_renter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788" y="1618488"/>
            <a:ext cx="1626743" cy="3520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074920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50" b="1">
                <a:solidFill>
                  <a:srgbClr val="0F172A"/>
                </a:solidFill>
                <a:latin typeface="Segoe UI"/>
              </a:defRPr>
            </a:pPr>
            <a:r>
              <a:t>1. Tìm Xe &amp; Bộ Lọc</a:t>
            </a:r>
          </a:p>
          <a:p>
            <a:pPr algn="ctr">
              <a:defRPr sz="1100">
                <a:solidFill>
                  <a:srgbClr val="475569"/>
                </a:solidFill>
                <a:latin typeface="Segoe UI"/>
              </a:defRPr>
            </a:pPr>
            <a:r>
              <a:t>Lọc theo Tỉnh, ngày thuê, khoảng giá và số chỗ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3750" y="1508760"/>
            <a:ext cx="3383280" cy="4343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mobile_renter_viet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5280" y="1618488"/>
            <a:ext cx="1760220" cy="3520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95190" y="5074920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50" b="1">
                <a:solidFill>
                  <a:srgbClr val="0F172A"/>
                </a:solidFill>
                <a:latin typeface="Segoe UI"/>
              </a:defRPr>
            </a:pPr>
            <a:r>
              <a:t>2. Ký Quỹ Cọc 30% VietQR</a:t>
            </a:r>
          </a:p>
          <a:p>
            <a:pPr algn="ctr">
              <a:defRPr sz="1100">
                <a:solidFill>
                  <a:srgbClr val="475569"/>
                </a:solidFill>
                <a:latin typeface="Segoe UI"/>
              </a:defRPr>
            </a:pPr>
            <a:r>
              <a:t>Tự sinh mã QR ngân hàng &amp; đếm ngược Soft Lock 45m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75980" y="1508760"/>
            <a:ext cx="3383280" cy="4343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7_mobile_375px_dispute_mod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7991" y="1618488"/>
            <a:ext cx="1979257" cy="35204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67420" y="5074920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50" b="1">
                <a:solidFill>
                  <a:srgbClr val="0F172A"/>
                </a:solidFill>
                <a:latin typeface="Segoe UI"/>
              </a:defRPr>
            </a:pPr>
            <a:r>
              <a:t>3. Khiếu Nại Sự Cố (Dispute)</a:t>
            </a:r>
          </a:p>
          <a:p>
            <a:pPr algn="ctr">
              <a:defRPr sz="1100">
                <a:solidFill>
                  <a:srgbClr val="475569"/>
                </a:solidFill>
                <a:latin typeface="Segoe UI"/>
              </a:defRPr>
            </a:pPr>
            <a:r>
              <a:t>Gửi video bằng chứng tại chỗ để hoàn 100% cọc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EA580C"/>
                </a:solidFill>
                <a:latin typeface="Segoe UI"/>
              </a:rPr>
              <a:t>&gt;&gt;&gt;  </a:t>
            </a:r>
            <a:r>
              <a:rPr sz="2300" b="1">
                <a:solidFill>
                  <a:srgbClr val="0F172A"/>
                </a:solidFill>
                <a:latin typeface="Segoe UI"/>
              </a:rPr>
              <a:t>3.2  Kết Quả Thực Nghiệm: Phân Hệ Chủ Xe (Car Owner)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&gt; Bộ công cụ số hóa toàn diện giúp chủ xe quản lý tài sản và tối ưu doanh thu: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383280" cy="4343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3_owner_cars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266426"/>
            <a:ext cx="3163824" cy="22245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074920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50" b="1">
                <a:solidFill>
                  <a:srgbClr val="0F172A"/>
                </a:solidFill>
                <a:latin typeface="Segoe UI"/>
              </a:defRPr>
            </a:pPr>
            <a:r>
              <a:t>1. Quản Lý Đội Xe</a:t>
            </a:r>
          </a:p>
          <a:p>
            <a:pPr algn="ctr">
              <a:defRPr sz="1100">
                <a:solidFill>
                  <a:srgbClr val="475569"/>
                </a:solidFill>
                <a:latin typeface="Segoe UI"/>
              </a:defRPr>
            </a:pPr>
            <a:r>
              <a:t>Bật/Tắt trạng thái hoạt động &amp; cập nhật giá thuê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3750" y="1508760"/>
            <a:ext cx="3383280" cy="4343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roof_03_vi_two_way_inspection_modal_u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3478" y="2266426"/>
            <a:ext cx="3163824" cy="22245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95190" y="5074920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50" b="1">
                <a:solidFill>
                  <a:srgbClr val="0F172A"/>
                </a:solidFill>
                <a:latin typeface="Segoe UI"/>
              </a:defRPr>
            </a:pPr>
            <a:r>
              <a:t>2. Biên Bản Bàn Giao 2 Chiều</a:t>
            </a:r>
          </a:p>
          <a:p>
            <a:pPr algn="ctr">
              <a:defRPr sz="1100">
                <a:solidFill>
                  <a:srgbClr val="475569"/>
                </a:solidFill>
                <a:latin typeface="Segoe UI"/>
              </a:defRPr>
            </a:pPr>
            <a:r>
              <a:t>Check-in/out ghi nhận ODO, vạch xăng &amp; 6 góc ảnh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75980" y="1508760"/>
            <a:ext cx="3383280" cy="4343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4_owner_earnings_wall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5708" y="2266426"/>
            <a:ext cx="3163824" cy="222456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67420" y="5074920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50" b="1">
                <a:solidFill>
                  <a:srgbClr val="0F172A"/>
                </a:solidFill>
                <a:latin typeface="Segoe UI"/>
              </a:defRPr>
            </a:pPr>
            <a:r>
              <a:t>3. Ví Doanh Thu Chủ Xe</a:t>
            </a:r>
          </a:p>
          <a:p>
            <a:pPr algn="ctr">
              <a:defRPr sz="1100">
                <a:solidFill>
                  <a:srgbClr val="475569"/>
                </a:solidFill>
                <a:latin typeface="Segoe UI"/>
              </a:defRPr>
            </a:pPr>
            <a:r>
              <a:t>Thống kê số dư khả dụng, nhận 90% doanh thu cuốc xe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EA580C"/>
                </a:solidFill>
                <a:latin typeface="Segoe UI"/>
              </a:rPr>
              <a:t>&gt;&gt;&gt;  </a:t>
            </a:r>
            <a:r>
              <a:rPr sz="2300" b="1">
                <a:solidFill>
                  <a:srgbClr val="0F172A"/>
                </a:solidFill>
                <a:latin typeface="Segoe UI"/>
              </a:rPr>
              <a:t>3.3  Kết Quả Thực Nghiệm: Phân Hệ Quản Trị (Admin Portal)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&gt; Trung tâm điều hành kiểm soát rủi ro, phân xử khiếu nại và bảo đảm an ninh pháp lý: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383280" cy="4343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5_admin_portal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266426"/>
            <a:ext cx="3163824" cy="22245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074920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50" b="1">
                <a:solidFill>
                  <a:srgbClr val="0F172A"/>
                </a:solidFill>
                <a:latin typeface="Segoe UI"/>
              </a:defRPr>
            </a:pPr>
            <a:r>
              <a:t>1. Dashboard Tổng Quan Sàn</a:t>
            </a:r>
          </a:p>
          <a:p>
            <a:pPr algn="ctr">
              <a:defRPr sz="1100">
                <a:solidFill>
                  <a:srgbClr val="475569"/>
                </a:solidFill>
                <a:latin typeface="Segoe UI"/>
              </a:defRPr>
            </a:pPr>
            <a:r>
              <a:t>Theo dõi thời gian thực số xe, thành viên &amp; dòng tiền cọc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3750" y="1508760"/>
            <a:ext cx="3383280" cy="4343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05_admin_dual_cards_cccd_and_ba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3478" y="2266426"/>
            <a:ext cx="3163824" cy="22245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95190" y="5074920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50" b="1">
                <a:solidFill>
                  <a:srgbClr val="0F172A"/>
                </a:solidFill>
                <a:latin typeface="Segoe UI"/>
              </a:defRPr>
            </a:pPr>
            <a:r>
              <a:t>2. Thẩm Định eKYC Giấy Tờ</a:t>
            </a:r>
          </a:p>
          <a:p>
            <a:pPr algn="ctr">
              <a:defRPr sz="1100">
                <a:solidFill>
                  <a:srgbClr val="475569"/>
                </a:solidFill>
                <a:latin typeface="Segoe UI"/>
              </a:defRPr>
            </a:pPr>
            <a:r>
              <a:t>Đối soát ảnh chụp CCCD, GPLX và tài khoản ngân hàng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75980" y="1508760"/>
            <a:ext cx="3383280" cy="4343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2_dispute_modal_op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5708" y="2266426"/>
            <a:ext cx="3163824" cy="222456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67420" y="5074920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50" b="1">
                <a:solidFill>
                  <a:srgbClr val="0F172A"/>
                </a:solidFill>
                <a:latin typeface="Segoe UI"/>
              </a:defRPr>
            </a:pPr>
            <a:r>
              <a:t>3. Dispute &amp; Chế Tài Điều 175</a:t>
            </a:r>
          </a:p>
          <a:p>
            <a:pPr algn="ctr">
              <a:defRPr sz="1100">
                <a:solidFill>
                  <a:srgbClr val="475569"/>
                </a:solidFill>
                <a:latin typeface="Segoe UI"/>
              </a:defRPr>
            </a:pPr>
            <a:r>
              <a:t>Phân xử hoàn 100% cọc &amp; xuất Hồ sơ vi phạm 1-click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EA580C"/>
                </a:solidFill>
                <a:latin typeface="Segoe UI"/>
              </a:rPr>
              <a:t>&gt;&gt;&gt;  </a:t>
            </a:r>
            <a:r>
              <a:rPr sz="2300" b="1">
                <a:solidFill>
                  <a:srgbClr val="0F172A"/>
                </a:solidFill>
                <a:latin typeface="Segoe UI"/>
              </a:rPr>
              <a:t>3.4  Quy Trình Nghiệm Thu Xe 2 Chiều &amp; Hợp Đồng Điện Tử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&gt; Sơ đồ tuần tự nghiệp vụ Check-in &amp; Check-out triệt tiêu hoàn toàn tranh chấp hư hỏng: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4526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5_sequence_two_way_hand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5587" y="1691640"/>
            <a:ext cx="416052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1722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475569"/>
                </a:solidFill>
                <a:latin typeface="Segoe UI"/>
              </a:defRPr>
            </a:pPr>
            <a:r>
              <a:t>Hình 3.4 Sơ đồ tuần tự quy trình bàn giao xe hai chiều (Check-in &amp; Check-out) — DriveShare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EA580C"/>
                </a:solidFill>
                <a:latin typeface="Segoe UI"/>
              </a:rPr>
              <a:t>&gt;&gt;&gt;  </a:t>
            </a:r>
            <a:r>
              <a:rPr sz="2300" b="1">
                <a:solidFill>
                  <a:srgbClr val="0F172A"/>
                </a:solidFill>
                <a:latin typeface="Segoe UI"/>
              </a:rPr>
              <a:t>3.5  Chiến Lược Kiểm Thử Tự Động Toàn Diện (188 Tests)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&gt; Đảm bảo chất lượng phần mềm và độ chịu tải đồng thời trước khi bàn giao: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3035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20040" rIns="320040" rtlCol="0" anchor="ctr"/>
          <a:lstStyle/>
          <a:p>
            <a:pPr algn="ctr">
              <a:spcAft>
                <a:spcPts val="1400"/>
              </a:spcAft>
              <a:defRPr sz="1600" b="1">
                <a:solidFill>
                  <a:srgbClr val="1E3A8A"/>
                </a:solidFill>
                <a:latin typeface="Segoe UI"/>
              </a:defRPr>
            </a:pPr>
            <a:r>
              <a:t>CHẤT LƯỢNG PHẦN MỀM</a:t>
            </a:r>
          </a:p>
          <a:p>
            <a:pPr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188 bài test tự động: Đạt tỷ lệ PASS 100% (Unit Test, Integration Test, Concurrency Test).</a:t>
            </a:r>
          </a:p>
          <a:p>
            <a:pPr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Unit &amp; Service Tests: Kiểm thử công thức phạt trễ hạn lũy tiến, tính cọc 30%, kiểm tra trùng lịch.</a:t>
            </a:r>
          </a:p>
          <a:p>
            <a:pPr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MockMvc Integration Tests: Kiểm thử toàn bộ các luồng xác thực JWT và phân quyền API.</a:t>
            </a:r>
          </a:p>
          <a:p>
            <a:pPr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Concurrency Tests: Giả lập đa luồng đặt xe cùng lúc, xác nhận loại bỏ hoàn toàn Overbooking.</a:t>
            </a:r>
          </a:p>
          <a:p>
            <a:pPr>
              <a:spcAft>
                <a:spcPts val="900"/>
              </a:spcAft>
              <a:defRPr sz="1300">
                <a:solidFill>
                  <a:srgbClr val="0F172A"/>
                </a:solidFill>
                <a:latin typeface="Segoe UI"/>
              </a:defRPr>
            </a:pPr>
            <a:r>
              <a:t>•  Kiểm soát chất lượng: Tích hợp JaCoCo đo độ bao phủ mã nguồn trước khi merge Pull Request.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19653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8_qa_test_suite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0593" y="1737360"/>
            <a:ext cx="2422627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EA580C"/>
                </a:solidFill>
                <a:latin typeface="Segoe UI"/>
              </a:rPr>
              <a:t>&gt;&gt;&gt;  </a:t>
            </a:r>
            <a:r>
              <a:rPr sz="2300" b="1">
                <a:solidFill>
                  <a:srgbClr val="0F172A"/>
                </a:solidFill>
                <a:latin typeface="Segoe UI"/>
              </a:rPr>
              <a:t>KẾT LUẬN  Tổng Kết Kết Quả Đạt Được Của Đề Tài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&gt; Những thành quả nổi bật sau quá trình nghiên cứu và triển khai dự án: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4134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20040" rIns="32004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EA580C"/>
                </a:solidFill>
                <a:latin typeface="Segoe UI"/>
              </a:defRPr>
            </a:pPr>
            <a:r>
              <a:t>KẾT QUẢ 01</a:t>
            </a:r>
          </a:p>
          <a:p>
            <a:pPr>
              <a:spcAft>
                <a:spcPts val="14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Hoàn Thành 5 Sprints Scrum</a:t>
            </a:r>
          </a:p>
          <a:p>
            <a:pPr>
              <a:spcAft>
                <a:spcPts val="9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•  Tuân thủ chặt chẽ mô hình Agile Scrum từ Sprint 1 đến Sprint 5.</a:t>
            </a:r>
          </a:p>
          <a:p>
            <a:pPr>
              <a:spcAft>
                <a:spcPts val="9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•  Hoàn thành 100% User Stories cam kết theo đề bài thực tập K25.</a:t>
            </a:r>
          </a:p>
          <a:p>
            <a:pPr>
              <a:spcAft>
                <a:spcPts val="9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•  Thực hiện họp Daily Scrum và Retrospective đúng định kỳ.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00200"/>
            <a:ext cx="34134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20040" rIns="32004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EA580C"/>
                </a:solidFill>
                <a:latin typeface="Segoe UI"/>
              </a:defRPr>
            </a:pPr>
            <a:r>
              <a:t>KẾT QUẢ 02</a:t>
            </a:r>
          </a:p>
          <a:p>
            <a:pPr>
              <a:spcAft>
                <a:spcPts val="14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Kiến Trúc Thực Tế Chuẩn Mực</a:t>
            </a:r>
          </a:p>
          <a:p>
            <a:pPr>
              <a:spcAft>
                <a:spcPts val="9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•  Áp dụng thành công Khóa bi quan CSDL, Two-Tier Lock và VietQR 30%.</a:t>
            </a:r>
          </a:p>
          <a:p>
            <a:pPr>
              <a:spcAft>
                <a:spcPts val="9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•  Biên bản bàn giao điện tử 2 chiều triệt tiêu tranh chấp hư hỏng.</a:t>
            </a:r>
          </a:p>
          <a:p>
            <a:pPr>
              <a:spcAft>
                <a:spcPts val="9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•  Trợ lý AI hoạt động ổn định và sẵn sàng cả online lẫn offline.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00200"/>
            <a:ext cx="34134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20040" rIns="320040" rtlCol="0" anchor="ctr"/>
          <a:lstStyle/>
          <a:p>
            <a:pPr algn="ctr">
              <a:spcAft>
                <a:spcPts val="400"/>
              </a:spcAft>
              <a:defRPr sz="1200" b="1">
                <a:solidFill>
                  <a:srgbClr val="EA580C"/>
                </a:solidFill>
                <a:latin typeface="Segoe UI"/>
              </a:defRPr>
            </a:pPr>
            <a:r>
              <a:t>KẾT QUẢ 03</a:t>
            </a:r>
          </a:p>
          <a:p>
            <a:pPr>
              <a:spcAft>
                <a:spcPts val="1400"/>
              </a:spcAft>
              <a:defRPr sz="1700" b="1">
                <a:solidFill>
                  <a:srgbClr val="0F172A"/>
                </a:solidFill>
                <a:latin typeface="Segoe UI"/>
              </a:defRPr>
            </a:pPr>
            <a:r>
              <a:t>Quy Trình Doanh Nghiệp</a:t>
            </a:r>
          </a:p>
          <a:p>
            <a:pPr>
              <a:spcAft>
                <a:spcPts val="9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•  Mô hình Git Feature-branch và Pull Request Review nghiêm ngặt.</a:t>
            </a:r>
          </a:p>
          <a:p>
            <a:pPr>
              <a:spcAft>
                <a:spcPts val="9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•  188 automated tests bảo vệ chất lượng mã nguồn trước khi release.</a:t>
            </a:r>
          </a:p>
          <a:p>
            <a:pPr>
              <a:spcAft>
                <a:spcPts val="900"/>
              </a:spcAft>
              <a:defRPr sz="1300">
                <a:solidFill>
                  <a:srgbClr val="475569"/>
                </a:solidFill>
                <a:latin typeface="Segoe UI"/>
              </a:defRPr>
            </a:pPr>
            <a:r>
              <a:t>•  Hệ thống vận hành trơn tru và sẵn sàng demo trực tiếp.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EA580C"/>
                </a:solidFill>
                <a:latin typeface="Segoe UI"/>
              </a:rPr>
              <a:t>&gt;&gt;&gt;  </a:t>
            </a:r>
            <a:r>
              <a:rPr sz="2300" b="1">
                <a:solidFill>
                  <a:srgbClr val="0F172A"/>
                </a:solidFill>
                <a:latin typeface="Segoe UI"/>
              </a:rPr>
              <a:t>KẾT LUẬN  Những Hạn Chế Còn Tồn Tại &amp; Hướng Phát Triển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&gt; Đánh giá trung thực hiện trạng và định hướng nâng cấp hệ thống: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242255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200"/>
              </a:spcAft>
              <a:defRPr sz="1150" b="1">
                <a:solidFill>
                  <a:srgbClr val="EA580C"/>
                </a:solidFill>
                <a:latin typeface="Segoe UI"/>
              </a:defRPr>
            </a:pPr>
            <a:r>
              <a:t>HẠN CHẾ 01</a:t>
            </a:r>
          </a:p>
          <a:p>
            <a:pPr>
              <a:spcAft>
                <a:spcPts val="5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Xác Nhận VietQR</a:t>
            </a:r>
          </a:p>
          <a:p>
            <a:pPr>
              <a:spcAft>
                <a:spcPts val="200"/>
              </a:spcAft>
              <a:defRPr sz="1250">
                <a:solidFill>
                  <a:srgbClr val="475569"/>
                </a:solidFill>
                <a:latin typeface="Segoe UI"/>
              </a:defRPr>
            </a:pPr>
            <a:r>
              <a:t>Hiện tại: Xác nhận cọc qua nút bấm mô phỏng Webhook trên màn hình.</a:t>
            </a:r>
          </a:p>
          <a:p>
            <a:pPr>
              <a:spcAft>
                <a:spcPts val="200"/>
              </a:spcAft>
              <a:defRPr sz="1250">
                <a:solidFill>
                  <a:srgbClr val="475569"/>
                </a:solidFill>
                <a:latin typeface="Segoe UI"/>
              </a:defRPr>
            </a:pPr>
            <a:r>
              <a:t>Hướng tới: Tích hợp Webhook biến động số dư ngân hàng tự động (Casso / SePay).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00200"/>
            <a:ext cx="5242255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200"/>
              </a:spcAft>
              <a:defRPr sz="1150" b="1">
                <a:solidFill>
                  <a:srgbClr val="EA580C"/>
                </a:solidFill>
                <a:latin typeface="Segoe UI"/>
              </a:defRPr>
            </a:pPr>
            <a:r>
              <a:t>HẠN CHẾ 02</a:t>
            </a:r>
          </a:p>
          <a:p>
            <a:pPr>
              <a:spcAft>
                <a:spcPts val="5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Thẩm Định eKYC</a:t>
            </a:r>
          </a:p>
          <a:p>
            <a:pPr>
              <a:spcAft>
                <a:spcPts val="200"/>
              </a:spcAft>
              <a:defRPr sz="1250">
                <a:solidFill>
                  <a:srgbClr val="475569"/>
                </a:solidFill>
                <a:latin typeface="Segoe UI"/>
              </a:defRPr>
            </a:pPr>
            <a:r>
              <a:t>Hiện tại: Admin duyệt bằng mắt trên ảnh chụp CCCD và bằng lái xe.</a:t>
            </a:r>
          </a:p>
          <a:p>
            <a:pPr>
              <a:spcAft>
                <a:spcPts val="200"/>
              </a:spcAft>
              <a:defRPr sz="1250">
                <a:solidFill>
                  <a:srgbClr val="475569"/>
                </a:solidFill>
                <a:latin typeface="Segoe UI"/>
              </a:defRPr>
            </a:pPr>
            <a:r>
              <a:t>Hướng tới: Tích hợp AI OCR quét thông tin giấy tờ và so khớp khuôn mặt sinh trắc.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69080"/>
            <a:ext cx="5242255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200"/>
              </a:spcAft>
              <a:defRPr sz="1150" b="1">
                <a:solidFill>
                  <a:srgbClr val="EA580C"/>
                </a:solidFill>
                <a:latin typeface="Segoe UI"/>
              </a:defRPr>
            </a:pPr>
            <a:r>
              <a:t>HẠN CHẾ 03</a:t>
            </a:r>
          </a:p>
          <a:p>
            <a:pPr>
              <a:spcAft>
                <a:spcPts val="5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Thông Báo Realtime</a:t>
            </a:r>
          </a:p>
          <a:p>
            <a:pPr>
              <a:spcAft>
                <a:spcPts val="200"/>
              </a:spcAft>
              <a:defRPr sz="1250">
                <a:solidFill>
                  <a:srgbClr val="475569"/>
                </a:solidFill>
                <a:latin typeface="Segoe UI"/>
              </a:defRPr>
            </a:pPr>
            <a:r>
              <a:t>Hiện tại: Sử dụng cơ chế REST Polling định kỳ để cập nhật chuông.</a:t>
            </a:r>
          </a:p>
          <a:p>
            <a:pPr>
              <a:spcAft>
                <a:spcPts val="200"/>
              </a:spcAft>
              <a:defRPr sz="1250">
                <a:solidFill>
                  <a:srgbClr val="475569"/>
                </a:solidFill>
                <a:latin typeface="Segoe UI"/>
              </a:defRPr>
            </a:pPr>
            <a:r>
              <a:t>Hướng tới: Nâng cấp lên kết nối hai chiều WebSocket STOMP Broker.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69080"/>
            <a:ext cx="5242255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200"/>
              </a:spcAft>
              <a:defRPr sz="1150" b="1">
                <a:solidFill>
                  <a:srgbClr val="EA580C"/>
                </a:solidFill>
                <a:latin typeface="Segoe UI"/>
              </a:defRPr>
            </a:pPr>
            <a:r>
              <a:t>HẠN CHẾ 04</a:t>
            </a:r>
          </a:p>
          <a:p>
            <a:pPr>
              <a:spcAft>
                <a:spcPts val="5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Bản Đồ Tương Tác</a:t>
            </a:r>
          </a:p>
          <a:p>
            <a:pPr>
              <a:spcAft>
                <a:spcPts val="200"/>
              </a:spcAft>
              <a:defRPr sz="1250">
                <a:solidFill>
                  <a:srgbClr val="475569"/>
                </a:solidFill>
                <a:latin typeface="Segoe UI"/>
              </a:defRPr>
            </a:pPr>
            <a:r>
              <a:t>Hiện tại: Quản lý tọa độ trong DB, giao diện lọc theo Tỉnh/Thành.</a:t>
            </a:r>
          </a:p>
          <a:p>
            <a:pPr>
              <a:spcAft>
                <a:spcPts val="200"/>
              </a:spcAft>
              <a:defRPr sz="1250">
                <a:solidFill>
                  <a:srgbClr val="475569"/>
                </a:solidFill>
                <a:latin typeface="Segoe UI"/>
              </a:defRPr>
            </a:pPr>
            <a:r>
              <a:t>Hướng tới: Nhúng bản đồ Mapbox/Leaflet tìm xe theo bán kính 5 - 10km.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200" b="1">
                <a:solidFill>
                  <a:srgbClr val="EA580C"/>
                </a:solidFill>
                <a:latin typeface="Segoe UI"/>
              </a:rPr>
              <a:t>&gt;&gt;&gt;  </a:t>
            </a:r>
            <a:r>
              <a:rPr sz="2300" b="1">
                <a:solidFill>
                  <a:srgbClr val="0F172A"/>
                </a:solidFill>
                <a:latin typeface="Segoe UI"/>
              </a:rPr>
              <a:t>Q&amp;A  Phiên Vấn Đáp &amp; Lắng Nghe Góp Ý Của Hội Đồng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  <a:latin typeface="Segoe UI"/>
              </a:defRPr>
            </a:pPr>
            <a:r>
              <a:t>&gt; Lời tri ân chân thành và phân công thành viên giải đáp phản biện: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3035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20040" rIns="320040" rtlCol="0" anchor="ctr"/>
          <a:lstStyle/>
          <a:p>
            <a:pPr algn="ctr">
              <a:spcAft>
                <a:spcPts val="1400"/>
              </a:spcAft>
              <a:defRPr sz="1600" b="1">
                <a:solidFill>
                  <a:srgbClr val="1E3A8A"/>
                </a:solidFill>
                <a:latin typeface="Segoe UI"/>
              </a:defRPr>
            </a:pPr>
            <a:r>
              <a:rPr dirty="0"/>
              <a:t>LỜI TRI ÂN </a:t>
            </a:r>
            <a:endParaRPr lang="vi-VN" dirty="0"/>
          </a:p>
          <a:p>
            <a:pPr algn="ctr">
              <a:spcAft>
                <a:spcPts val="1400"/>
              </a:spcAft>
              <a:defRPr sz="1600" b="1">
                <a:solidFill>
                  <a:srgbClr val="1E3A8A"/>
                </a:solidFill>
                <a:latin typeface="Segoe UI"/>
              </a:defRPr>
            </a:pPr>
            <a:r>
              <a:rPr lang="vi-VN" dirty="0"/>
              <a:t> </a:t>
            </a:r>
          </a:p>
          <a:p>
            <a:pPr algn="ctr">
              <a:spcAft>
                <a:spcPts val="1400"/>
              </a:spcAft>
              <a:defRPr sz="1600" b="1">
                <a:solidFill>
                  <a:srgbClr val="1E3A8A"/>
                </a:solidFill>
                <a:latin typeface="Segoe UI"/>
              </a:defRPr>
            </a:pPr>
            <a:endParaRPr lang="vi-VN" dirty="0"/>
          </a:p>
          <a:p>
            <a:pPr>
              <a:spcAft>
                <a:spcPts val="1400"/>
              </a:spcAft>
              <a:defRPr sz="1600" b="1">
                <a:solidFill>
                  <a:srgbClr val="1E3A8A"/>
                </a:solidFill>
                <a:latin typeface="Segoe UI"/>
              </a:defRPr>
            </a:pPr>
            <a:r>
              <a:rPr sz="1200" dirty="0" err="1">
                <a:solidFill>
                  <a:schemeClr val="tx1"/>
                </a:solidFill>
              </a:rPr>
              <a:t>Nhóm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xin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trân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trọng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cảm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ơn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quý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Thầy</a:t>
            </a:r>
            <a:r>
              <a:rPr sz="1200" dirty="0">
                <a:solidFill>
                  <a:schemeClr val="tx1"/>
                </a:solidFill>
              </a:rPr>
              <a:t>, </a:t>
            </a:r>
            <a:r>
              <a:rPr sz="1200" dirty="0" err="1">
                <a:solidFill>
                  <a:schemeClr val="tx1"/>
                </a:solidFill>
              </a:rPr>
              <a:t>Cô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trong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Hội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đồng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phản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biện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đã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dành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thời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gian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quý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báu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theo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dõi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bài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báo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cáo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của</a:t>
            </a:r>
            <a:r>
              <a:rPr sz="1200" dirty="0">
                <a:solidFill>
                  <a:schemeClr val="tx1"/>
                </a:solidFill>
              </a:rPr>
              <a:t> </a:t>
            </a:r>
            <a:r>
              <a:rPr sz="1200" dirty="0" err="1">
                <a:solidFill>
                  <a:schemeClr val="tx1"/>
                </a:solidFill>
              </a:rPr>
              <a:t>nhóm</a:t>
            </a:r>
            <a:r>
              <a:rPr sz="1200" dirty="0">
                <a:solidFill>
                  <a:schemeClr val="tx1"/>
                </a:solidFill>
              </a:rPr>
              <a:t>.</a:t>
            </a:r>
            <a:br>
              <a:rPr dirty="0"/>
            </a:br>
            <a:br>
              <a:rPr dirty="0"/>
            </a:b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19653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20040" rIns="320040" rtlCol="0" anchor="ctr"/>
          <a:lstStyle/>
          <a:p>
            <a:pPr algn="ctr">
              <a:spcAft>
                <a:spcPts val="1400"/>
              </a:spcAft>
              <a:defRPr sz="1600" b="1">
                <a:solidFill>
                  <a:srgbClr val="EA580C"/>
                </a:solidFill>
                <a:latin typeface="Segoe UI"/>
              </a:defRPr>
            </a:pPr>
            <a:r>
              <a:rPr dirty="0"/>
              <a:t>PHIÊN VẤN ĐÁP &amp; HỎI ĐÁP (Q&amp;A)</a:t>
            </a:r>
          </a:p>
          <a:p>
            <a:pPr>
              <a:defRPr sz="1250">
                <a:solidFill>
                  <a:srgbClr val="0F172A"/>
                </a:solidFill>
                <a:latin typeface="Segoe UI"/>
              </a:defRPr>
            </a:pPr>
            <a:r>
              <a:rPr dirty="0" err="1"/>
              <a:t>Nhóm</a:t>
            </a:r>
            <a:r>
              <a:rPr dirty="0"/>
              <a:t> </a:t>
            </a:r>
            <a:r>
              <a:rPr dirty="0" err="1"/>
              <a:t>sẵn</a:t>
            </a:r>
            <a:r>
              <a:rPr dirty="0"/>
              <a:t> </a:t>
            </a:r>
            <a:r>
              <a:rPr dirty="0" err="1"/>
              <a:t>sàng</a:t>
            </a:r>
            <a:r>
              <a:rPr dirty="0"/>
              <a:t> </a:t>
            </a:r>
            <a:r>
              <a:rPr dirty="0" err="1"/>
              <a:t>lắng</a:t>
            </a:r>
            <a:r>
              <a:rPr dirty="0"/>
              <a:t> </a:t>
            </a:r>
            <a:r>
              <a:rPr dirty="0" err="1"/>
              <a:t>nghe</a:t>
            </a:r>
            <a:r>
              <a:rPr dirty="0"/>
              <a:t> </a:t>
            </a:r>
            <a:r>
              <a:rPr dirty="0" err="1"/>
              <a:t>những</a:t>
            </a:r>
            <a:r>
              <a:rPr dirty="0"/>
              <a:t> </a:t>
            </a:r>
            <a:r>
              <a:rPr dirty="0" err="1"/>
              <a:t>góp</a:t>
            </a:r>
            <a:r>
              <a:rPr dirty="0"/>
              <a:t> ý </a:t>
            </a:r>
            <a:r>
              <a:rPr dirty="0" err="1"/>
              <a:t>quý</a:t>
            </a:r>
            <a:r>
              <a:rPr dirty="0"/>
              <a:t> </a:t>
            </a:r>
            <a:r>
              <a:rPr dirty="0" err="1"/>
              <a:t>báu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giải</a:t>
            </a:r>
            <a:r>
              <a:rPr dirty="0"/>
              <a:t> </a:t>
            </a:r>
            <a:r>
              <a:rPr dirty="0" err="1"/>
              <a:t>đáp</a:t>
            </a:r>
            <a:r>
              <a:rPr dirty="0"/>
              <a:t> </a:t>
            </a:r>
            <a:r>
              <a:rPr dirty="0" err="1"/>
              <a:t>mọi</a:t>
            </a:r>
            <a:r>
              <a:rPr dirty="0"/>
              <a:t> </a:t>
            </a:r>
            <a:r>
              <a:rPr dirty="0" err="1"/>
              <a:t>câu</a:t>
            </a:r>
            <a:r>
              <a:rPr dirty="0"/>
              <a:t> </a:t>
            </a:r>
            <a:r>
              <a:rPr dirty="0" err="1"/>
              <a:t>hỏi</a:t>
            </a:r>
            <a:r>
              <a:rPr dirty="0"/>
              <a:t> </a:t>
            </a:r>
            <a:r>
              <a:rPr dirty="0" err="1"/>
              <a:t>phản</a:t>
            </a:r>
            <a:r>
              <a:rPr dirty="0"/>
              <a:t> </a:t>
            </a:r>
            <a:r>
              <a:rPr dirty="0" err="1"/>
              <a:t>biện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quý</a:t>
            </a:r>
            <a:r>
              <a:rPr dirty="0"/>
              <a:t> </a:t>
            </a:r>
            <a:r>
              <a:rPr dirty="0" err="1"/>
              <a:t>Thầy</a:t>
            </a:r>
            <a:r>
              <a:rPr dirty="0"/>
              <a:t>, </a:t>
            </a:r>
            <a:r>
              <a:rPr dirty="0" err="1"/>
              <a:t>Cô</a:t>
            </a:r>
            <a:r>
              <a:rPr dirty="0"/>
              <a:t>!</a:t>
            </a:r>
            <a:br>
              <a:rPr dirty="0"/>
            </a:br>
            <a:br>
              <a:rPr dirty="0"/>
            </a:br>
            <a:r>
              <a:rPr dirty="0" err="1"/>
              <a:t>Đại</a:t>
            </a:r>
            <a:r>
              <a:rPr dirty="0"/>
              <a:t> </a:t>
            </a:r>
            <a:r>
              <a:rPr dirty="0" err="1"/>
              <a:t>diện</a:t>
            </a:r>
            <a:r>
              <a:rPr dirty="0"/>
              <a:t> </a:t>
            </a:r>
            <a:r>
              <a:rPr dirty="0" err="1"/>
              <a:t>trả</a:t>
            </a:r>
            <a:r>
              <a:rPr dirty="0"/>
              <a:t> </a:t>
            </a:r>
            <a:r>
              <a:rPr dirty="0" err="1"/>
              <a:t>lời</a:t>
            </a:r>
            <a:r>
              <a:rPr dirty="0"/>
              <a:t>: Nguyễn Duy Bảo (Tech Lead)</a:t>
            </a:r>
            <a:br>
              <a:rPr dirty="0"/>
            </a:br>
            <a:r>
              <a:rPr dirty="0" err="1"/>
              <a:t>Cùng</a:t>
            </a:r>
            <a:r>
              <a:rPr dirty="0"/>
              <a:t> </a:t>
            </a:r>
            <a:r>
              <a:rPr dirty="0" err="1"/>
              <a:t>sự</a:t>
            </a:r>
            <a:r>
              <a:rPr dirty="0"/>
              <a:t> </a:t>
            </a:r>
            <a:r>
              <a:rPr dirty="0" err="1"/>
              <a:t>phối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của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thành</a:t>
            </a:r>
            <a:r>
              <a:rPr dirty="0"/>
              <a:t> </a:t>
            </a:r>
            <a:r>
              <a:rPr dirty="0" err="1"/>
              <a:t>viên</a:t>
            </a:r>
            <a:r>
              <a:rPr dirty="0"/>
              <a:t> </a:t>
            </a:r>
            <a:r>
              <a:rPr dirty="0" err="1"/>
              <a:t>chuyên</a:t>
            </a:r>
            <a:r>
              <a:rPr dirty="0"/>
              <a:t> </a:t>
            </a:r>
            <a:r>
              <a:rPr dirty="0" err="1"/>
              <a:t>trách</a:t>
            </a:r>
            <a:r>
              <a:rPr dirty="0"/>
              <a:t>:</a:t>
            </a:r>
            <a:br>
              <a:rPr dirty="0"/>
            </a:br>
            <a:r>
              <a:rPr dirty="0"/>
              <a:t>•  Nguyễn Chí </a:t>
            </a:r>
            <a:r>
              <a:rPr dirty="0" err="1"/>
              <a:t>Tín</a:t>
            </a:r>
            <a:r>
              <a:rPr dirty="0"/>
              <a:t>: Thanh </a:t>
            </a:r>
            <a:r>
              <a:rPr dirty="0" err="1"/>
              <a:t>toán</a:t>
            </a:r>
            <a:r>
              <a:rPr dirty="0"/>
              <a:t> </a:t>
            </a:r>
            <a:r>
              <a:rPr dirty="0" err="1"/>
              <a:t>VietQR</a:t>
            </a:r>
            <a:r>
              <a:rPr dirty="0"/>
              <a:t> &amp; Giao </a:t>
            </a:r>
            <a:r>
              <a:rPr dirty="0" err="1"/>
              <a:t>diện</a:t>
            </a:r>
            <a:r>
              <a:rPr dirty="0"/>
              <a:t> Web</a:t>
            </a:r>
            <a:br>
              <a:rPr dirty="0"/>
            </a:br>
            <a:r>
              <a:rPr dirty="0"/>
              <a:t>•  Lâm Chí </a:t>
            </a:r>
            <a:r>
              <a:rPr dirty="0" err="1"/>
              <a:t>Vĩ</a:t>
            </a:r>
            <a:r>
              <a:rPr dirty="0"/>
              <a:t>: Backend Core &amp; </a:t>
            </a:r>
            <a:r>
              <a:rPr dirty="0" err="1"/>
              <a:t>Khóa</a:t>
            </a:r>
            <a:r>
              <a:rPr dirty="0"/>
              <a:t> bi </a:t>
            </a:r>
            <a:r>
              <a:rPr dirty="0" err="1"/>
              <a:t>quan</a:t>
            </a:r>
            <a:r>
              <a:rPr dirty="0"/>
              <a:t> CSDL</a:t>
            </a:r>
            <a:br>
              <a:rPr dirty="0"/>
            </a:br>
            <a:r>
              <a:rPr dirty="0"/>
              <a:t>•  </a:t>
            </a:r>
            <a:r>
              <a:rPr dirty="0" err="1"/>
              <a:t>Đỗ</a:t>
            </a:r>
            <a:r>
              <a:rPr dirty="0"/>
              <a:t> Ngọc </a:t>
            </a:r>
            <a:r>
              <a:rPr dirty="0" err="1"/>
              <a:t>Phát</a:t>
            </a:r>
            <a:r>
              <a:rPr dirty="0"/>
              <a:t>: </a:t>
            </a:r>
            <a:r>
              <a:rPr dirty="0" err="1"/>
              <a:t>Trợ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AI Gemini &amp; Bảo </a:t>
            </a:r>
            <a:r>
              <a:rPr dirty="0" err="1"/>
              <a:t>mật</a:t>
            </a:r>
            <a:r>
              <a:rPr dirty="0"/>
              <a:t> JWT</a:t>
            </a:r>
            <a:br>
              <a:rPr dirty="0"/>
            </a:br>
            <a:r>
              <a:rPr dirty="0"/>
              <a:t>•  Nguyễn Duy Quân: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thử</a:t>
            </a:r>
            <a:r>
              <a:rPr dirty="0"/>
              <a:t> 188 Tests &amp; </a:t>
            </a:r>
            <a:r>
              <a:rPr dirty="0" err="1"/>
              <a:t>Xử</a:t>
            </a:r>
            <a:r>
              <a:rPr dirty="0"/>
              <a:t> </a:t>
            </a:r>
            <a:r>
              <a:rPr dirty="0" err="1"/>
              <a:t>phạt</a:t>
            </a:r>
            <a:r>
              <a:rPr dirty="0"/>
              <a:t> </a:t>
            </a:r>
            <a:r>
              <a:rPr dirty="0" err="1"/>
              <a:t>quá</a:t>
            </a:r>
            <a:r>
              <a:rPr dirty="0"/>
              <a:t> </a:t>
            </a:r>
            <a:r>
              <a:rPr dirty="0" err="1"/>
              <a:t>hạn</a:t>
            </a:r>
            <a:br>
              <a:rPr dirty="0"/>
            </a:br>
            <a:r>
              <a:rPr dirty="0"/>
              <a:t>•  </a:t>
            </a:r>
            <a:r>
              <a:rPr dirty="0" err="1"/>
              <a:t>NguyễnTấn</a:t>
            </a:r>
            <a:r>
              <a:rPr dirty="0"/>
              <a:t> </a:t>
            </a:r>
            <a:r>
              <a:rPr dirty="0" err="1"/>
              <a:t>Lộc</a:t>
            </a:r>
            <a:r>
              <a:rPr dirty="0"/>
              <a:t> Khiêm: </a:t>
            </a:r>
            <a:r>
              <a:rPr dirty="0" err="1"/>
              <a:t>Thiết</a:t>
            </a:r>
            <a:r>
              <a:rPr dirty="0"/>
              <a:t> </a:t>
            </a:r>
            <a:r>
              <a:rPr dirty="0" err="1"/>
              <a:t>kế</a:t>
            </a:r>
            <a:r>
              <a:rPr dirty="0"/>
              <a:t> </a:t>
            </a:r>
            <a:r>
              <a:rPr dirty="0" err="1"/>
              <a:t>Kiến</a:t>
            </a:r>
            <a:r>
              <a:rPr dirty="0"/>
              <a:t> </a:t>
            </a:r>
            <a:r>
              <a:rPr dirty="0" err="1"/>
              <a:t>trúc</a:t>
            </a:r>
            <a:r>
              <a:rPr dirty="0"/>
              <a:t> &amp; Use Case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4314</Words>
  <Application>Microsoft Office PowerPoint</Application>
  <PresentationFormat>Màn hình rộng</PresentationFormat>
  <Paragraphs>300</Paragraphs>
  <Slides>19</Slides>
  <Notes>19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3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19</vt:i4>
      </vt:variant>
    </vt:vector>
  </HeadingPairs>
  <TitlesOfParts>
    <vt:vector size="23" baseType="lpstr">
      <vt:lpstr>Arial</vt:lpstr>
      <vt:lpstr>Calibri</vt:lpstr>
      <vt:lpstr>Segoe UI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bảo duy</cp:lastModifiedBy>
  <cp:revision>7</cp:revision>
  <dcterms:created xsi:type="dcterms:W3CDTF">2013-01-27T09:14:16Z</dcterms:created>
  <dcterms:modified xsi:type="dcterms:W3CDTF">2026-10-30T04:55:12Z</dcterms:modified>
  <cp:category/>
</cp:coreProperties>
</file>